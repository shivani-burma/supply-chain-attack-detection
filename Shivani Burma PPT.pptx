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313" r:id="rId2"/>
    <p:sldId id="294" r:id="rId3"/>
    <p:sldId id="302" r:id="rId4"/>
    <p:sldId id="311" r:id="rId5"/>
    <p:sldId id="305" r:id="rId6"/>
    <p:sldId id="303" r:id="rId7"/>
    <p:sldId id="304" r:id="rId8"/>
    <p:sldId id="312" r:id="rId9"/>
    <p:sldId id="314" r:id="rId10"/>
    <p:sldId id="315" r:id="rId11"/>
    <p:sldId id="316" r:id="rId12"/>
    <p:sldId id="317" r:id="rId13"/>
    <p:sldId id="318" r:id="rId14"/>
    <p:sldId id="319" r:id="rId15"/>
    <p:sldId id="306" r:id="rId16"/>
  </p:sldIdLst>
  <p:sldSz cx="12192000" cy="6858000"/>
  <p:notesSz cx="6858000" cy="9144000"/>
  <p:defaultTextStyle>
    <a:defPPr>
      <a:defRPr lang="en-M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986" autoAdjust="0"/>
  </p:normalViewPr>
  <p:slideViewPr>
    <p:cSldViewPr snapToGrid="0">
      <p:cViewPr varScale="1">
        <p:scale>
          <a:sx n="42" d="100"/>
          <a:sy n="42" d="100"/>
        </p:scale>
        <p:origin x="1580"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95C877-25C7-48CE-8D8F-1108F4550C2A}" type="datetimeFigureOut">
              <a:rPr lang="en-GB" smtClean="0"/>
              <a:t>22/07/2026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98DC4A-ABB4-400C-8FB0-2E16B979BFA3}" type="slidenum">
              <a:rPr lang="en-GB" smtClean="0"/>
              <a:t>‹#›</a:t>
            </a:fld>
            <a:endParaRPr lang="en-GB"/>
          </a:p>
        </p:txBody>
      </p:sp>
    </p:spTree>
    <p:extLst>
      <p:ext uri="{BB962C8B-B14F-4D97-AF65-F5344CB8AC3E}">
        <p14:creationId xmlns:p14="http://schemas.microsoft.com/office/powerpoint/2010/main" val="39710717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 am Shivani Burma and today I will be presenting my dissertation: "Detecting Supply Chain and Dependency Confusion Attacks in Open-Source Ecosystems. This research aims at enhancing the security of software supply chains by introducing a lightweight machine learning based framework that can identify malicious Python packages prior to installation. It integrates package metadata analysis, machine learning algorithms, and an interactive </a:t>
            </a:r>
            <a:r>
              <a:rPr lang="en-US" dirty="0" err="1"/>
              <a:t>Streamlit</a:t>
            </a:r>
            <a:r>
              <a:rPr lang="en-US" dirty="0"/>
              <a:t> application, enabling developers to detect suspicious packages at an early stage and minimize cybersecurity risks without compromising computational efficiency.</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1</a:t>
            </a:fld>
            <a:endParaRPr lang="en-GB"/>
          </a:p>
        </p:txBody>
      </p:sp>
    </p:spTree>
    <p:extLst>
      <p:ext uri="{BB962C8B-B14F-4D97-AF65-F5344CB8AC3E}">
        <p14:creationId xmlns:p14="http://schemas.microsoft.com/office/powerpoint/2010/main" val="675411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Open-source software is indispensable in the world of software development today, allowing developers to use libraries and frameworks to save time and money in development. Developers install thousands of packages every day from platforms like Python Package Index (</a:t>
            </a:r>
            <a:r>
              <a:rPr lang="en-US" dirty="0" err="1"/>
              <a:t>PyPI</a:t>
            </a:r>
            <a:r>
              <a:rPr lang="en-US" dirty="0"/>
              <a:t>). But all this dependency has also made the software supply chain risky. With public repositories being the target of criminals, it must be increasingly crucial to be able to detect malicious packages that are disguised as legitimate. Hence, the security of packages has become a major research challenge in cybersecurity.</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2</a:t>
            </a:fld>
            <a:endParaRPr lang="en-GB"/>
          </a:p>
        </p:txBody>
      </p:sp>
    </p:spTree>
    <p:extLst>
      <p:ext uri="{BB962C8B-B14F-4D97-AF65-F5344CB8AC3E}">
        <p14:creationId xmlns:p14="http://schemas.microsoft.com/office/powerpoint/2010/main" val="1466816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major issue that is being solved in this research is increasing dependency confusion attacks and </a:t>
            </a:r>
            <a:r>
              <a:rPr lang="en-US" dirty="0" err="1"/>
              <a:t>Typosquatting</a:t>
            </a:r>
            <a:r>
              <a:rPr lang="en-US" dirty="0"/>
              <a:t> attacks in open-source repositories. Current threat detection methods are primarily based on static analysis and/or dynamic analysis, and these methods are both costly and only detect threats after packages are downloaded or run. This brings big risks to the developer and </a:t>
            </a:r>
            <a:r>
              <a:rPr lang="en-US" dirty="0" err="1"/>
              <a:t>organisations</a:t>
            </a:r>
            <a:r>
              <a:rPr lang="en-US" dirty="0"/>
              <a:t>. To solve this problem my research suggests lightweight machine learning framework which examines the package metadata before installation for early and efficient detection of attacks.</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3</a:t>
            </a:fld>
            <a:endParaRPr lang="en-GB"/>
          </a:p>
        </p:txBody>
      </p:sp>
    </p:spTree>
    <p:extLst>
      <p:ext uri="{BB962C8B-B14F-4D97-AF65-F5344CB8AC3E}">
        <p14:creationId xmlns:p14="http://schemas.microsoft.com/office/powerpoint/2010/main" val="4528167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review was conducted to look at the available methods for detecting malicious packages, which are static analysis, dynamic analysis and metadata based detection, machine learning methods. Static and dynamic techniques have good detection power, but they consume a lot of computation resources. An alternative is to use metadata-based detection, which is lightweight and can be used for pre-installation analysis. Another gap in the research was found, since very few studies are directed towards detecting dependency-confusion and </a:t>
            </a:r>
            <a:r>
              <a:rPr lang="en-US" dirty="0" err="1"/>
              <a:t>typosquatting</a:t>
            </a:r>
            <a:r>
              <a:rPr lang="en-US" dirty="0"/>
              <a:t> attacks using only package metadata. This was the motivation for the proposed framework.</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4</a:t>
            </a:fld>
            <a:endParaRPr lang="en-GB"/>
          </a:p>
        </p:txBody>
      </p:sp>
    </p:spTree>
    <p:extLst>
      <p:ext uri="{BB962C8B-B14F-4D97-AF65-F5344CB8AC3E}">
        <p14:creationId xmlns:p14="http://schemas.microsoft.com/office/powerpoint/2010/main" val="31520909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literature review was conducted to look at the available methods for detecting malicious packages, which are static analysis, dynamic analysis and metadata based detection, machine learning methods. Static and dynamic techniques have good detection power, but they consume a lot of computation resources. An alternative is to use metadata-based detection, which is lightweight and can be used for pre-installation analysis. Another gap in the research was found, since very few studies are directed towards detecting dependency-confusion and </a:t>
            </a:r>
            <a:r>
              <a:rPr lang="en-US" dirty="0" err="1"/>
              <a:t>typosquatting</a:t>
            </a:r>
            <a:r>
              <a:rPr lang="en-US" dirty="0"/>
              <a:t> attacks using only package metadata. This was the motivation for the proposed framework.</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5</a:t>
            </a:fld>
            <a:endParaRPr lang="en-GB"/>
          </a:p>
        </p:txBody>
      </p:sp>
    </p:spTree>
    <p:extLst>
      <p:ext uri="{BB962C8B-B14F-4D97-AF65-F5344CB8AC3E}">
        <p14:creationId xmlns:p14="http://schemas.microsoft.com/office/powerpoint/2010/main" val="4213846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used in this research was an experimental method with quantitative approach. The </a:t>
            </a:r>
            <a:r>
              <a:rPr lang="en-US" dirty="0" err="1"/>
              <a:t>PyPI</a:t>
            </a:r>
            <a:r>
              <a:rPr lang="en-US" dirty="0"/>
              <a:t> API was used to gather metadata whereas common </a:t>
            </a:r>
            <a:r>
              <a:rPr lang="en-US" dirty="0" err="1"/>
              <a:t>typosquatting</a:t>
            </a:r>
            <a:r>
              <a:rPr lang="en-US" dirty="0"/>
              <a:t> techniques were used to create some of the names for the packages. External validation was performed using more packages from the </a:t>
            </a:r>
            <a:r>
              <a:rPr lang="en-US" dirty="0" err="1"/>
              <a:t>OpenSSF</a:t>
            </a:r>
            <a:r>
              <a:rPr lang="en-US" dirty="0"/>
              <a:t> repository. Duplicate removal, missing value analysis, SMOTE class balancing, feature scaling and train-test splitting were then performed on the dataset. Lastly, three supervised machine learning algorithms were trained and tested using typical classification metrics and then the chosen model was deployed in a </a:t>
            </a:r>
            <a:r>
              <a:rPr lang="en-US" dirty="0" err="1"/>
              <a:t>Streamlit</a:t>
            </a:r>
            <a:r>
              <a:rPr lang="en-US" dirty="0"/>
              <a:t> application.</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6</a:t>
            </a:fld>
            <a:endParaRPr lang="en-GB"/>
          </a:p>
        </p:txBody>
      </p:sp>
    </p:spTree>
    <p:extLst>
      <p:ext uri="{BB962C8B-B14F-4D97-AF65-F5344CB8AC3E}">
        <p14:creationId xmlns:p14="http://schemas.microsoft.com/office/powerpoint/2010/main" val="1198094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general architecture of the proposed work. This system starts by gathering metadata from </a:t>
            </a:r>
            <a:r>
              <a:rPr lang="en-US" dirty="0" err="1"/>
              <a:t>PyPI</a:t>
            </a:r>
            <a:r>
              <a:rPr lang="en-US" dirty="0"/>
              <a:t> and malicious package information from </a:t>
            </a:r>
            <a:r>
              <a:rPr lang="en-US" dirty="0" err="1"/>
              <a:t>OpenSSF</a:t>
            </a:r>
            <a:r>
              <a:rPr lang="en-US" dirty="0"/>
              <a:t>. The collected data is </a:t>
            </a:r>
            <a:r>
              <a:rPr lang="en-US" dirty="0" err="1"/>
              <a:t>organised</a:t>
            </a:r>
            <a:r>
              <a:rPr lang="en-US" dirty="0"/>
              <a:t> into training datasets before feature engineering extracts important metadata characteristics. These features are then fed into multiple machine learning models to train. The best model is then tested on the external data, and then deployed to a </a:t>
            </a:r>
            <a:r>
              <a:rPr lang="en-US" dirty="0" err="1"/>
              <a:t>Streamlit</a:t>
            </a:r>
            <a:r>
              <a:rPr lang="en-US" dirty="0"/>
              <a:t> dashboard which allows users to work with an interactive package risk prediction system.</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7</a:t>
            </a:fld>
            <a:endParaRPr lang="en-GB"/>
          </a:p>
        </p:txBody>
      </p:sp>
    </p:spTree>
    <p:extLst>
      <p:ext uri="{BB962C8B-B14F-4D97-AF65-F5344CB8AC3E}">
        <p14:creationId xmlns:p14="http://schemas.microsoft.com/office/powerpoint/2010/main" val="702879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training set contained 802 package records, 98 of which were legitimate packages, while 704 suspicious packages, created by </a:t>
            </a:r>
            <a:r>
              <a:rPr lang="en-US" dirty="0" err="1"/>
              <a:t>typosquating</a:t>
            </a:r>
            <a:r>
              <a:rPr lang="en-US" dirty="0"/>
              <a:t>, were included. Data from an independent </a:t>
            </a:r>
            <a:r>
              <a:rPr lang="en-US" dirty="0" err="1"/>
              <a:t>OpenSSF</a:t>
            </a:r>
            <a:r>
              <a:rPr lang="en-US" dirty="0"/>
              <a:t> data set was used for external validation. To make machine learning possible, five numerical characteristics of the packages were created: similarity score, package name length, summary length, release count, and package age. The proposed solution is lightweight and computationally efficient because it doesn't require analyzing the source code or running the software; rather, it relies on these metadata features to recognize suspicious packages.</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8</a:t>
            </a:fld>
            <a:endParaRPr lang="en-GB"/>
          </a:p>
        </p:txBody>
      </p:sp>
    </p:spTree>
    <p:extLst>
      <p:ext uri="{BB962C8B-B14F-4D97-AF65-F5344CB8AC3E}">
        <p14:creationId xmlns:p14="http://schemas.microsoft.com/office/powerpoint/2010/main" val="105579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supervised machine learning algorithms were used and evaluated: Logistic Regression, Decision Tree, and Random Forest. The baseline classifier was Logistic Regression and the Decision Tree classified complex non-linear relationships within the metadata. Random Forest was added to enhance the robustness from ensemble learning. The accuracy, precision, recall, F1 score, confusion matrix and ROC curves were used to evaluate each model. After comparative analysis, the Decision Tree model gave best overall performance and hence was considered as the final prediction model. </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9</a:t>
            </a:fld>
            <a:endParaRPr lang="en-GB"/>
          </a:p>
        </p:txBody>
      </p:sp>
    </p:spTree>
    <p:extLst>
      <p:ext uri="{BB962C8B-B14F-4D97-AF65-F5344CB8AC3E}">
        <p14:creationId xmlns:p14="http://schemas.microsoft.com/office/powerpoint/2010/main" val="2604481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experimental outcomes showed that machine learning is a promising approach for identifying suspicious packages and legitimate ones using the metadata. The Decision Tree (DT) classifier gave the highest overall performance based on the selected evaluation metrics when compared with the other classifiers. The reliability of the proposed framework was additionally validated by the ROC curve analysis and confusion matrices. This was further confirmed by external validation in real malicious packages from the </a:t>
            </a:r>
            <a:r>
              <a:rPr lang="en-US" dirty="0" err="1"/>
              <a:t>OpenSSF</a:t>
            </a:r>
            <a:r>
              <a:rPr lang="en-US" dirty="0"/>
              <a:t> repository, where the model was found to have good </a:t>
            </a:r>
            <a:r>
              <a:rPr lang="en-US" dirty="0" err="1"/>
              <a:t>generalisation</a:t>
            </a:r>
            <a:r>
              <a:rPr lang="en-US" dirty="0"/>
              <a:t> performance when real malicious package samples were not seen during training.</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10</a:t>
            </a:fld>
            <a:endParaRPr lang="en-GB"/>
          </a:p>
        </p:txBody>
      </p:sp>
    </p:spTree>
    <p:extLst>
      <p:ext uri="{BB962C8B-B14F-4D97-AF65-F5344CB8AC3E}">
        <p14:creationId xmlns:p14="http://schemas.microsoft.com/office/powerpoint/2010/main" val="35101440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To demonstrate practical implementation, the selected Decision Tree model was deployed within an interactive </a:t>
            </a:r>
            <a:r>
              <a:rPr lang="en-IN" dirty="0" err="1"/>
              <a:t>Streamlit</a:t>
            </a:r>
            <a:r>
              <a:rPr lang="en-IN" dirty="0"/>
              <a:t> web application. The dashboard includes a homepage summarising the project, a package risk prediction interface where users enter package metadata, and an analytics section displaying dataset statistics and model performance. This application enables users to perform real-time package risk assessments through a simple graphical interface without requiring machine learning knowledge or programming experience, making the framework suitable for practical cybersecurity use.</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11</a:t>
            </a:fld>
            <a:endParaRPr lang="en-GB"/>
          </a:p>
        </p:txBody>
      </p:sp>
    </p:spTree>
    <p:extLst>
      <p:ext uri="{BB962C8B-B14F-4D97-AF65-F5344CB8AC3E}">
        <p14:creationId xmlns:p14="http://schemas.microsoft.com/office/powerpoint/2010/main" val="131434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research has both theoretical and applied implications. Academically, it presents a lightweight framework based on metadata for detection dependency confusion and </a:t>
            </a:r>
            <a:r>
              <a:rPr lang="en-US" dirty="0" err="1"/>
              <a:t>typosquatting</a:t>
            </a:r>
            <a:r>
              <a:rPr lang="en-US" dirty="0"/>
              <a:t> attacks prior to package installation. It also offers an external validation of the comparative evaluation of three supervised machine learning algorithms. In practice, the study shows how metadata analysis can be incorporated into an interactive </a:t>
            </a:r>
            <a:r>
              <a:rPr lang="en-US" dirty="0" err="1"/>
              <a:t>Streamlit</a:t>
            </a:r>
            <a:r>
              <a:rPr lang="en-US" dirty="0"/>
              <a:t> application, allowing software developers to conduct an early package risk assessment, while significantly lowering the computational cost of traditional approaches for malware detection.</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12</a:t>
            </a:fld>
            <a:endParaRPr lang="en-GB"/>
          </a:p>
        </p:txBody>
      </p:sp>
    </p:spTree>
    <p:extLst>
      <p:ext uri="{BB962C8B-B14F-4D97-AF65-F5344CB8AC3E}">
        <p14:creationId xmlns:p14="http://schemas.microsoft.com/office/powerpoint/2010/main" val="4018543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was finished in the specified development schedule. The early work was targeted towards literature review and problems analysis, then, data collection and feature engineering. A machine learning model was subsequently built, tested and compared before finally being deployed in the </a:t>
            </a:r>
            <a:r>
              <a:rPr lang="en-US" dirty="0" err="1"/>
              <a:t>Streamlit</a:t>
            </a:r>
            <a:r>
              <a:rPr lang="en-US" dirty="0"/>
              <a:t> application with the model which was the best. The last part of the work involved result analysis, writing the dissertation and preparing the presentation. All the research objectives have been achieved in a structured way which ensured the quality of the project and the submission on time.</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13</a:t>
            </a:fld>
            <a:endParaRPr lang="en-GB"/>
          </a:p>
        </p:txBody>
      </p:sp>
    </p:spTree>
    <p:extLst>
      <p:ext uri="{BB962C8B-B14F-4D97-AF65-F5344CB8AC3E}">
        <p14:creationId xmlns:p14="http://schemas.microsoft.com/office/powerpoint/2010/main" val="10540811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this research was able to create a lightweight machine learning model to identify suspicious Python packages before installation. The proposed solution was a viable one that aimed to solve a significant research problem, and used package metadata, which is publicly accessible, instead of source code analysis, which is costly. The Decision Tree Classifier displayed the best overall performance and was deployed with a user-friendly </a:t>
            </a:r>
            <a:r>
              <a:rPr lang="en-US" dirty="0" err="1"/>
              <a:t>Streamlit</a:t>
            </a:r>
            <a:r>
              <a:rPr lang="en-US" dirty="0"/>
              <a:t> application. In conclusion, the study shows that metadata-based machine learning offers an efficient and scalable approach to enhance the security of software supply chains.</a:t>
            </a:r>
            <a:endParaRPr lang="en-GB" dirty="0"/>
          </a:p>
        </p:txBody>
      </p:sp>
      <p:sp>
        <p:nvSpPr>
          <p:cNvPr id="4" name="Slide Number Placeholder 3"/>
          <p:cNvSpPr>
            <a:spLocks noGrp="1"/>
          </p:cNvSpPr>
          <p:nvPr>
            <p:ph type="sldNum" sz="quarter" idx="5"/>
          </p:nvPr>
        </p:nvSpPr>
        <p:spPr/>
        <p:txBody>
          <a:bodyPr/>
          <a:lstStyle/>
          <a:p>
            <a:fld id="{6198DC4A-ABB4-400C-8FB0-2E16B979BFA3}" type="slidenum">
              <a:rPr lang="en-GB" smtClean="0"/>
              <a:t>14</a:t>
            </a:fld>
            <a:endParaRPr lang="en-GB"/>
          </a:p>
        </p:txBody>
      </p:sp>
    </p:spTree>
    <p:extLst>
      <p:ext uri="{BB962C8B-B14F-4D97-AF65-F5344CB8AC3E}">
        <p14:creationId xmlns:p14="http://schemas.microsoft.com/office/powerpoint/2010/main" val="698213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6146E-025B-7B6A-DD6E-14DD042D19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A"/>
          </a:p>
        </p:txBody>
      </p:sp>
      <p:sp>
        <p:nvSpPr>
          <p:cNvPr id="3" name="Subtitle 2">
            <a:extLst>
              <a:ext uri="{FF2B5EF4-FFF2-40B4-BE49-F238E27FC236}">
                <a16:creationId xmlns:a16="http://schemas.microsoft.com/office/drawing/2014/main" id="{7429D579-2CE0-D7F5-DD9A-4566A61A24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A"/>
          </a:p>
        </p:txBody>
      </p:sp>
      <p:sp>
        <p:nvSpPr>
          <p:cNvPr id="4" name="Date Placeholder 3">
            <a:extLst>
              <a:ext uri="{FF2B5EF4-FFF2-40B4-BE49-F238E27FC236}">
                <a16:creationId xmlns:a16="http://schemas.microsoft.com/office/drawing/2014/main" id="{5D31848B-773D-8D54-2B68-9FB62535111A}"/>
              </a:ext>
            </a:extLst>
          </p:cNvPr>
          <p:cNvSpPr>
            <a:spLocks noGrp="1"/>
          </p:cNvSpPr>
          <p:nvPr>
            <p:ph type="dt" sz="half" idx="10"/>
          </p:nvPr>
        </p:nvSpPr>
        <p:spPr/>
        <p:txBody>
          <a:bodyPr/>
          <a:lstStyle/>
          <a:p>
            <a:fld id="{C651EBA5-5D6B-1245-9328-7D2D181FC864}" type="datetimeFigureOut">
              <a:rPr lang="en-MA" smtClean="0"/>
              <a:t>07/22/2026</a:t>
            </a:fld>
            <a:endParaRPr lang="en-MA"/>
          </a:p>
        </p:txBody>
      </p:sp>
      <p:sp>
        <p:nvSpPr>
          <p:cNvPr id="5" name="Footer Placeholder 4">
            <a:extLst>
              <a:ext uri="{FF2B5EF4-FFF2-40B4-BE49-F238E27FC236}">
                <a16:creationId xmlns:a16="http://schemas.microsoft.com/office/drawing/2014/main" id="{14F6E86B-B30F-E8B6-CBBF-0AA3C9DADF10}"/>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A5D8DB1B-393D-60ED-A15E-16945887F557}"/>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975303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721D8-26C6-8B2E-115A-51E08C1E743B}"/>
              </a:ext>
            </a:extLst>
          </p:cNvPr>
          <p:cNvSpPr>
            <a:spLocks noGrp="1"/>
          </p:cNvSpPr>
          <p:nvPr>
            <p:ph type="title"/>
          </p:nvPr>
        </p:nvSpPr>
        <p:spPr/>
        <p:txBody>
          <a:bodyPr/>
          <a:lstStyle/>
          <a:p>
            <a:r>
              <a:rPr lang="en-US"/>
              <a:t>Click to edit Master title style</a:t>
            </a:r>
            <a:endParaRPr lang="en-MA"/>
          </a:p>
        </p:txBody>
      </p:sp>
      <p:sp>
        <p:nvSpPr>
          <p:cNvPr id="3" name="Content Placeholder 2">
            <a:extLst>
              <a:ext uri="{FF2B5EF4-FFF2-40B4-BE49-F238E27FC236}">
                <a16:creationId xmlns:a16="http://schemas.microsoft.com/office/drawing/2014/main" id="{390F334F-FE54-151D-8597-0467C40DF7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2E4A9ECA-08F1-8A31-74A1-FB1E430C6642}"/>
              </a:ext>
            </a:extLst>
          </p:cNvPr>
          <p:cNvSpPr>
            <a:spLocks noGrp="1"/>
          </p:cNvSpPr>
          <p:nvPr>
            <p:ph type="dt" sz="half" idx="10"/>
          </p:nvPr>
        </p:nvSpPr>
        <p:spPr/>
        <p:txBody>
          <a:bodyPr/>
          <a:lstStyle/>
          <a:p>
            <a:fld id="{C651EBA5-5D6B-1245-9328-7D2D181FC864}" type="datetimeFigureOut">
              <a:rPr lang="en-MA" smtClean="0"/>
              <a:t>07/22/2026</a:t>
            </a:fld>
            <a:endParaRPr lang="en-MA"/>
          </a:p>
        </p:txBody>
      </p:sp>
      <p:sp>
        <p:nvSpPr>
          <p:cNvPr id="5" name="Footer Placeholder 4">
            <a:extLst>
              <a:ext uri="{FF2B5EF4-FFF2-40B4-BE49-F238E27FC236}">
                <a16:creationId xmlns:a16="http://schemas.microsoft.com/office/drawing/2014/main" id="{D63B5726-E711-1E74-F908-5D162A3759CB}"/>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C7939161-18A9-7D99-4AA5-1128CB3F43AA}"/>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898332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83DE43-7D37-7653-C06C-B9D03E1FAD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A"/>
          </a:p>
        </p:txBody>
      </p:sp>
      <p:sp>
        <p:nvSpPr>
          <p:cNvPr id="3" name="Text Placeholder 2">
            <a:extLst>
              <a:ext uri="{FF2B5EF4-FFF2-40B4-BE49-F238E27FC236}">
                <a16:creationId xmlns:a16="http://schemas.microsoft.com/office/drawing/2014/main" id="{F4C5DC3B-1351-DF08-A8AD-9E6AB5E006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D8DA74-EA74-55DA-B4D2-59DC979772F1}"/>
              </a:ext>
            </a:extLst>
          </p:cNvPr>
          <p:cNvSpPr>
            <a:spLocks noGrp="1"/>
          </p:cNvSpPr>
          <p:nvPr>
            <p:ph type="dt" sz="half" idx="10"/>
          </p:nvPr>
        </p:nvSpPr>
        <p:spPr/>
        <p:txBody>
          <a:bodyPr/>
          <a:lstStyle/>
          <a:p>
            <a:fld id="{C651EBA5-5D6B-1245-9328-7D2D181FC864}" type="datetimeFigureOut">
              <a:rPr lang="en-MA" smtClean="0"/>
              <a:t>07/22/2026</a:t>
            </a:fld>
            <a:endParaRPr lang="en-MA"/>
          </a:p>
        </p:txBody>
      </p:sp>
      <p:sp>
        <p:nvSpPr>
          <p:cNvPr id="5" name="Footer Placeholder 4">
            <a:extLst>
              <a:ext uri="{FF2B5EF4-FFF2-40B4-BE49-F238E27FC236}">
                <a16:creationId xmlns:a16="http://schemas.microsoft.com/office/drawing/2014/main" id="{F21B7FD0-7FE3-F9A2-A9E4-10E0430C39CA}"/>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B82691C0-755D-C26B-C3AF-FFAC22790153}"/>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738178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EDF1B-ADB6-92B0-EF70-062EB5EBFCE2}"/>
              </a:ext>
            </a:extLst>
          </p:cNvPr>
          <p:cNvSpPr>
            <a:spLocks noGrp="1"/>
          </p:cNvSpPr>
          <p:nvPr>
            <p:ph type="title"/>
          </p:nvPr>
        </p:nvSpPr>
        <p:spPr/>
        <p:txBody>
          <a:bodyPr/>
          <a:lstStyle/>
          <a:p>
            <a:r>
              <a:rPr lang="en-US"/>
              <a:t>Click to edit Master title style</a:t>
            </a:r>
            <a:endParaRPr lang="en-MA"/>
          </a:p>
        </p:txBody>
      </p:sp>
      <p:sp>
        <p:nvSpPr>
          <p:cNvPr id="3" name="Content Placeholder 2">
            <a:extLst>
              <a:ext uri="{FF2B5EF4-FFF2-40B4-BE49-F238E27FC236}">
                <a16:creationId xmlns:a16="http://schemas.microsoft.com/office/drawing/2014/main" id="{92024E5E-1580-1937-361A-221D550C2B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Content Placeholder 3">
            <a:extLst>
              <a:ext uri="{FF2B5EF4-FFF2-40B4-BE49-F238E27FC236}">
                <a16:creationId xmlns:a16="http://schemas.microsoft.com/office/drawing/2014/main" id="{490DB68E-FA91-8367-6D31-EA7CFA28F9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5" name="Date Placeholder 4">
            <a:extLst>
              <a:ext uri="{FF2B5EF4-FFF2-40B4-BE49-F238E27FC236}">
                <a16:creationId xmlns:a16="http://schemas.microsoft.com/office/drawing/2014/main" id="{1E2A4637-E2F9-461A-FA9B-AD9CB35732A1}"/>
              </a:ext>
            </a:extLst>
          </p:cNvPr>
          <p:cNvSpPr>
            <a:spLocks noGrp="1"/>
          </p:cNvSpPr>
          <p:nvPr>
            <p:ph type="dt" sz="half" idx="10"/>
          </p:nvPr>
        </p:nvSpPr>
        <p:spPr/>
        <p:txBody>
          <a:bodyPr/>
          <a:lstStyle/>
          <a:p>
            <a:fld id="{C651EBA5-5D6B-1245-9328-7D2D181FC864}" type="datetimeFigureOut">
              <a:rPr lang="en-MA" smtClean="0"/>
              <a:t>07/22/2026</a:t>
            </a:fld>
            <a:endParaRPr lang="en-MA"/>
          </a:p>
        </p:txBody>
      </p:sp>
      <p:sp>
        <p:nvSpPr>
          <p:cNvPr id="6" name="Footer Placeholder 5">
            <a:extLst>
              <a:ext uri="{FF2B5EF4-FFF2-40B4-BE49-F238E27FC236}">
                <a16:creationId xmlns:a16="http://schemas.microsoft.com/office/drawing/2014/main" id="{AD609860-27E2-9809-EF8C-4AE193AEC5CD}"/>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D7DBDDD3-1D7C-C58F-499B-E0E581C0CB2F}"/>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3301676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4ED02-82BE-2C58-0458-741FBBF90CE3}"/>
              </a:ext>
            </a:extLst>
          </p:cNvPr>
          <p:cNvSpPr>
            <a:spLocks noGrp="1"/>
          </p:cNvSpPr>
          <p:nvPr>
            <p:ph type="title"/>
          </p:nvPr>
        </p:nvSpPr>
        <p:spPr>
          <a:xfrm>
            <a:off x="839788" y="365125"/>
            <a:ext cx="10515600" cy="1325563"/>
          </a:xfrm>
        </p:spPr>
        <p:txBody>
          <a:bodyPr/>
          <a:lstStyle/>
          <a:p>
            <a:r>
              <a:rPr lang="en-US"/>
              <a:t>Click to edit Master title style</a:t>
            </a:r>
            <a:endParaRPr lang="en-MA"/>
          </a:p>
        </p:txBody>
      </p:sp>
      <p:sp>
        <p:nvSpPr>
          <p:cNvPr id="3" name="Text Placeholder 2">
            <a:extLst>
              <a:ext uri="{FF2B5EF4-FFF2-40B4-BE49-F238E27FC236}">
                <a16:creationId xmlns:a16="http://schemas.microsoft.com/office/drawing/2014/main" id="{31957A7A-4BA1-4042-BACC-77085BEBA9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3CEF58-8BD3-D6FF-17F3-AAE53A8681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5" name="Text Placeholder 4">
            <a:extLst>
              <a:ext uri="{FF2B5EF4-FFF2-40B4-BE49-F238E27FC236}">
                <a16:creationId xmlns:a16="http://schemas.microsoft.com/office/drawing/2014/main" id="{54397340-9005-57A1-807C-2D0A22B149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F13E69-E6D7-7A4A-0C61-B9EFD313D4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7" name="Date Placeholder 6">
            <a:extLst>
              <a:ext uri="{FF2B5EF4-FFF2-40B4-BE49-F238E27FC236}">
                <a16:creationId xmlns:a16="http://schemas.microsoft.com/office/drawing/2014/main" id="{8ECAF452-14D5-268B-6BAF-45CEB52DD9B7}"/>
              </a:ext>
            </a:extLst>
          </p:cNvPr>
          <p:cNvSpPr>
            <a:spLocks noGrp="1"/>
          </p:cNvSpPr>
          <p:nvPr>
            <p:ph type="dt" sz="half" idx="10"/>
          </p:nvPr>
        </p:nvSpPr>
        <p:spPr/>
        <p:txBody>
          <a:bodyPr/>
          <a:lstStyle/>
          <a:p>
            <a:fld id="{C651EBA5-5D6B-1245-9328-7D2D181FC864}" type="datetimeFigureOut">
              <a:rPr lang="en-MA" smtClean="0"/>
              <a:t>07/22/2026</a:t>
            </a:fld>
            <a:endParaRPr lang="en-MA"/>
          </a:p>
        </p:txBody>
      </p:sp>
      <p:sp>
        <p:nvSpPr>
          <p:cNvPr id="8" name="Footer Placeholder 7">
            <a:extLst>
              <a:ext uri="{FF2B5EF4-FFF2-40B4-BE49-F238E27FC236}">
                <a16:creationId xmlns:a16="http://schemas.microsoft.com/office/drawing/2014/main" id="{F36E0D52-BE96-604D-4457-BDF3DE0C4578}"/>
              </a:ext>
            </a:extLst>
          </p:cNvPr>
          <p:cNvSpPr>
            <a:spLocks noGrp="1"/>
          </p:cNvSpPr>
          <p:nvPr>
            <p:ph type="ftr" sz="quarter" idx="11"/>
          </p:nvPr>
        </p:nvSpPr>
        <p:spPr/>
        <p:txBody>
          <a:bodyPr/>
          <a:lstStyle/>
          <a:p>
            <a:endParaRPr lang="en-MA"/>
          </a:p>
        </p:txBody>
      </p:sp>
      <p:sp>
        <p:nvSpPr>
          <p:cNvPr id="9" name="Slide Number Placeholder 8">
            <a:extLst>
              <a:ext uri="{FF2B5EF4-FFF2-40B4-BE49-F238E27FC236}">
                <a16:creationId xmlns:a16="http://schemas.microsoft.com/office/drawing/2014/main" id="{94F283A5-9EE4-2BC1-9878-A58B113B9281}"/>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555607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E8EA0-EB41-5852-F2CB-450D5594567C}"/>
              </a:ext>
            </a:extLst>
          </p:cNvPr>
          <p:cNvSpPr>
            <a:spLocks noGrp="1"/>
          </p:cNvSpPr>
          <p:nvPr>
            <p:ph type="title"/>
          </p:nvPr>
        </p:nvSpPr>
        <p:spPr/>
        <p:txBody>
          <a:bodyPr/>
          <a:lstStyle/>
          <a:p>
            <a:r>
              <a:rPr lang="en-US"/>
              <a:t>Click to edit Master title style</a:t>
            </a:r>
            <a:endParaRPr lang="en-MA"/>
          </a:p>
        </p:txBody>
      </p:sp>
      <p:sp>
        <p:nvSpPr>
          <p:cNvPr id="3" name="Date Placeholder 2">
            <a:extLst>
              <a:ext uri="{FF2B5EF4-FFF2-40B4-BE49-F238E27FC236}">
                <a16:creationId xmlns:a16="http://schemas.microsoft.com/office/drawing/2014/main" id="{34FA2628-E1A6-3B41-7002-4D841C63AD41}"/>
              </a:ext>
            </a:extLst>
          </p:cNvPr>
          <p:cNvSpPr>
            <a:spLocks noGrp="1"/>
          </p:cNvSpPr>
          <p:nvPr>
            <p:ph type="dt" sz="half" idx="10"/>
          </p:nvPr>
        </p:nvSpPr>
        <p:spPr/>
        <p:txBody>
          <a:bodyPr/>
          <a:lstStyle/>
          <a:p>
            <a:fld id="{C651EBA5-5D6B-1245-9328-7D2D181FC864}" type="datetimeFigureOut">
              <a:rPr lang="en-MA" smtClean="0"/>
              <a:t>07/22/2026</a:t>
            </a:fld>
            <a:endParaRPr lang="en-MA"/>
          </a:p>
        </p:txBody>
      </p:sp>
      <p:sp>
        <p:nvSpPr>
          <p:cNvPr id="4" name="Footer Placeholder 3">
            <a:extLst>
              <a:ext uri="{FF2B5EF4-FFF2-40B4-BE49-F238E27FC236}">
                <a16:creationId xmlns:a16="http://schemas.microsoft.com/office/drawing/2014/main" id="{03B96072-6399-AE6D-1858-B423A9214633}"/>
              </a:ext>
            </a:extLst>
          </p:cNvPr>
          <p:cNvSpPr>
            <a:spLocks noGrp="1"/>
          </p:cNvSpPr>
          <p:nvPr>
            <p:ph type="ftr" sz="quarter" idx="11"/>
          </p:nvPr>
        </p:nvSpPr>
        <p:spPr/>
        <p:txBody>
          <a:bodyPr/>
          <a:lstStyle/>
          <a:p>
            <a:endParaRPr lang="en-MA"/>
          </a:p>
        </p:txBody>
      </p:sp>
      <p:sp>
        <p:nvSpPr>
          <p:cNvPr id="5" name="Slide Number Placeholder 4">
            <a:extLst>
              <a:ext uri="{FF2B5EF4-FFF2-40B4-BE49-F238E27FC236}">
                <a16:creationId xmlns:a16="http://schemas.microsoft.com/office/drawing/2014/main" id="{639C3BC3-F868-3845-0742-5D30E95EC110}"/>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2211776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11AE74-01F2-AD67-9421-1758589CAF2E}"/>
              </a:ext>
            </a:extLst>
          </p:cNvPr>
          <p:cNvSpPr>
            <a:spLocks noGrp="1"/>
          </p:cNvSpPr>
          <p:nvPr>
            <p:ph type="dt" sz="half" idx="10"/>
          </p:nvPr>
        </p:nvSpPr>
        <p:spPr/>
        <p:txBody>
          <a:bodyPr/>
          <a:lstStyle/>
          <a:p>
            <a:fld id="{C651EBA5-5D6B-1245-9328-7D2D181FC864}" type="datetimeFigureOut">
              <a:rPr lang="en-MA" smtClean="0"/>
              <a:t>07/22/2026</a:t>
            </a:fld>
            <a:endParaRPr lang="en-MA"/>
          </a:p>
        </p:txBody>
      </p:sp>
      <p:sp>
        <p:nvSpPr>
          <p:cNvPr id="3" name="Footer Placeholder 2">
            <a:extLst>
              <a:ext uri="{FF2B5EF4-FFF2-40B4-BE49-F238E27FC236}">
                <a16:creationId xmlns:a16="http://schemas.microsoft.com/office/drawing/2014/main" id="{B29A62D4-1958-456C-B424-1862633C272A}"/>
              </a:ext>
            </a:extLst>
          </p:cNvPr>
          <p:cNvSpPr>
            <a:spLocks noGrp="1"/>
          </p:cNvSpPr>
          <p:nvPr>
            <p:ph type="ftr" sz="quarter" idx="11"/>
          </p:nvPr>
        </p:nvSpPr>
        <p:spPr/>
        <p:txBody>
          <a:bodyPr/>
          <a:lstStyle/>
          <a:p>
            <a:endParaRPr lang="en-MA"/>
          </a:p>
        </p:txBody>
      </p:sp>
      <p:sp>
        <p:nvSpPr>
          <p:cNvPr id="4" name="Slide Number Placeholder 3">
            <a:extLst>
              <a:ext uri="{FF2B5EF4-FFF2-40B4-BE49-F238E27FC236}">
                <a16:creationId xmlns:a16="http://schemas.microsoft.com/office/drawing/2014/main" id="{9BAD2DC6-7315-40F6-B6A4-3DD1F7B84DAD}"/>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2356363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3C262-380F-F317-8211-3776EE5E46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A"/>
          </a:p>
        </p:txBody>
      </p:sp>
      <p:sp>
        <p:nvSpPr>
          <p:cNvPr id="3" name="Content Placeholder 2">
            <a:extLst>
              <a:ext uri="{FF2B5EF4-FFF2-40B4-BE49-F238E27FC236}">
                <a16:creationId xmlns:a16="http://schemas.microsoft.com/office/drawing/2014/main" id="{28EDB357-CB8F-56E3-BE11-57E90591BA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Text Placeholder 3">
            <a:extLst>
              <a:ext uri="{FF2B5EF4-FFF2-40B4-BE49-F238E27FC236}">
                <a16:creationId xmlns:a16="http://schemas.microsoft.com/office/drawing/2014/main" id="{7964655B-759E-6A23-C49F-688B5DC576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4699B3-539B-0C94-15D4-7FF9574687F8}"/>
              </a:ext>
            </a:extLst>
          </p:cNvPr>
          <p:cNvSpPr>
            <a:spLocks noGrp="1"/>
          </p:cNvSpPr>
          <p:nvPr>
            <p:ph type="dt" sz="half" idx="10"/>
          </p:nvPr>
        </p:nvSpPr>
        <p:spPr/>
        <p:txBody>
          <a:bodyPr/>
          <a:lstStyle/>
          <a:p>
            <a:fld id="{C651EBA5-5D6B-1245-9328-7D2D181FC864}" type="datetimeFigureOut">
              <a:rPr lang="en-MA" smtClean="0"/>
              <a:t>07/22/2026</a:t>
            </a:fld>
            <a:endParaRPr lang="en-MA"/>
          </a:p>
        </p:txBody>
      </p:sp>
      <p:sp>
        <p:nvSpPr>
          <p:cNvPr id="6" name="Footer Placeholder 5">
            <a:extLst>
              <a:ext uri="{FF2B5EF4-FFF2-40B4-BE49-F238E27FC236}">
                <a16:creationId xmlns:a16="http://schemas.microsoft.com/office/drawing/2014/main" id="{4BC0CA7F-040E-0074-A6EB-B95435912321}"/>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4E81E667-F726-F73A-3636-855220B211F7}"/>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3079313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16A11-30A9-D30E-F2FD-9BF3C76D28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A"/>
          </a:p>
        </p:txBody>
      </p:sp>
      <p:sp>
        <p:nvSpPr>
          <p:cNvPr id="3" name="Picture Placeholder 2">
            <a:extLst>
              <a:ext uri="{FF2B5EF4-FFF2-40B4-BE49-F238E27FC236}">
                <a16:creationId xmlns:a16="http://schemas.microsoft.com/office/drawing/2014/main" id="{B49E376C-4EB1-EA6D-4C47-AC7BE924E4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A"/>
          </a:p>
        </p:txBody>
      </p:sp>
      <p:sp>
        <p:nvSpPr>
          <p:cNvPr id="4" name="Text Placeholder 3">
            <a:extLst>
              <a:ext uri="{FF2B5EF4-FFF2-40B4-BE49-F238E27FC236}">
                <a16:creationId xmlns:a16="http://schemas.microsoft.com/office/drawing/2014/main" id="{F7136556-32AB-9242-F43E-A2A754658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72AD94-779F-7437-9FF3-6AC2A60C5F71}"/>
              </a:ext>
            </a:extLst>
          </p:cNvPr>
          <p:cNvSpPr>
            <a:spLocks noGrp="1"/>
          </p:cNvSpPr>
          <p:nvPr>
            <p:ph type="dt" sz="half" idx="10"/>
          </p:nvPr>
        </p:nvSpPr>
        <p:spPr/>
        <p:txBody>
          <a:bodyPr/>
          <a:lstStyle/>
          <a:p>
            <a:fld id="{C651EBA5-5D6B-1245-9328-7D2D181FC864}" type="datetimeFigureOut">
              <a:rPr lang="en-MA" smtClean="0"/>
              <a:t>07/22/2026</a:t>
            </a:fld>
            <a:endParaRPr lang="en-MA"/>
          </a:p>
        </p:txBody>
      </p:sp>
      <p:sp>
        <p:nvSpPr>
          <p:cNvPr id="6" name="Footer Placeholder 5">
            <a:extLst>
              <a:ext uri="{FF2B5EF4-FFF2-40B4-BE49-F238E27FC236}">
                <a16:creationId xmlns:a16="http://schemas.microsoft.com/office/drawing/2014/main" id="{DE9315A0-33FE-F521-45E0-1937BB49A565}"/>
              </a:ext>
            </a:extLst>
          </p:cNvPr>
          <p:cNvSpPr>
            <a:spLocks noGrp="1"/>
          </p:cNvSpPr>
          <p:nvPr>
            <p:ph type="ftr" sz="quarter" idx="11"/>
          </p:nvPr>
        </p:nvSpPr>
        <p:spPr/>
        <p:txBody>
          <a:bodyPr/>
          <a:lstStyle/>
          <a:p>
            <a:endParaRPr lang="en-MA"/>
          </a:p>
        </p:txBody>
      </p:sp>
      <p:sp>
        <p:nvSpPr>
          <p:cNvPr id="7" name="Slide Number Placeholder 6">
            <a:extLst>
              <a:ext uri="{FF2B5EF4-FFF2-40B4-BE49-F238E27FC236}">
                <a16:creationId xmlns:a16="http://schemas.microsoft.com/office/drawing/2014/main" id="{B229C8E9-7274-3A8C-2BC7-1A1FAB602CB9}"/>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753987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D4919-C418-464A-6DC8-91712F97F529}"/>
              </a:ext>
            </a:extLst>
          </p:cNvPr>
          <p:cNvSpPr>
            <a:spLocks noGrp="1"/>
          </p:cNvSpPr>
          <p:nvPr>
            <p:ph type="title"/>
          </p:nvPr>
        </p:nvSpPr>
        <p:spPr/>
        <p:txBody>
          <a:bodyPr/>
          <a:lstStyle/>
          <a:p>
            <a:r>
              <a:rPr lang="en-US"/>
              <a:t>Click to edit Master title style</a:t>
            </a:r>
            <a:endParaRPr lang="en-MA"/>
          </a:p>
        </p:txBody>
      </p:sp>
      <p:sp>
        <p:nvSpPr>
          <p:cNvPr id="3" name="Vertical Text Placeholder 2">
            <a:extLst>
              <a:ext uri="{FF2B5EF4-FFF2-40B4-BE49-F238E27FC236}">
                <a16:creationId xmlns:a16="http://schemas.microsoft.com/office/drawing/2014/main" id="{1B2FF419-0B82-778B-CCD7-8BBA6AD892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FC994307-56CD-1AE6-64BF-35F93EDA0E83}"/>
              </a:ext>
            </a:extLst>
          </p:cNvPr>
          <p:cNvSpPr>
            <a:spLocks noGrp="1"/>
          </p:cNvSpPr>
          <p:nvPr>
            <p:ph type="dt" sz="half" idx="10"/>
          </p:nvPr>
        </p:nvSpPr>
        <p:spPr/>
        <p:txBody>
          <a:bodyPr/>
          <a:lstStyle/>
          <a:p>
            <a:fld id="{C651EBA5-5D6B-1245-9328-7D2D181FC864}" type="datetimeFigureOut">
              <a:rPr lang="en-MA" smtClean="0"/>
              <a:t>07/22/2026</a:t>
            </a:fld>
            <a:endParaRPr lang="en-MA"/>
          </a:p>
        </p:txBody>
      </p:sp>
      <p:sp>
        <p:nvSpPr>
          <p:cNvPr id="5" name="Footer Placeholder 4">
            <a:extLst>
              <a:ext uri="{FF2B5EF4-FFF2-40B4-BE49-F238E27FC236}">
                <a16:creationId xmlns:a16="http://schemas.microsoft.com/office/drawing/2014/main" id="{F0ED42F2-DF6C-515E-7D7F-989BDACF803A}"/>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08618A75-0176-3FB5-5E74-0A899A5B9A34}"/>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2423835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1C3C9E-4554-8455-B064-B3E496A466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A"/>
          </a:p>
        </p:txBody>
      </p:sp>
      <p:sp>
        <p:nvSpPr>
          <p:cNvPr id="3" name="Vertical Text Placeholder 2">
            <a:extLst>
              <a:ext uri="{FF2B5EF4-FFF2-40B4-BE49-F238E27FC236}">
                <a16:creationId xmlns:a16="http://schemas.microsoft.com/office/drawing/2014/main" id="{7CDBDA4C-25B9-0BC2-5D31-EA5475AF07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C9586CCD-F50C-EE5B-3FCD-70381E2CBF96}"/>
              </a:ext>
            </a:extLst>
          </p:cNvPr>
          <p:cNvSpPr>
            <a:spLocks noGrp="1"/>
          </p:cNvSpPr>
          <p:nvPr>
            <p:ph type="dt" sz="half" idx="10"/>
          </p:nvPr>
        </p:nvSpPr>
        <p:spPr/>
        <p:txBody>
          <a:bodyPr/>
          <a:lstStyle/>
          <a:p>
            <a:fld id="{C651EBA5-5D6B-1245-9328-7D2D181FC864}" type="datetimeFigureOut">
              <a:rPr lang="en-MA" smtClean="0"/>
              <a:t>07/22/2026</a:t>
            </a:fld>
            <a:endParaRPr lang="en-MA"/>
          </a:p>
        </p:txBody>
      </p:sp>
      <p:sp>
        <p:nvSpPr>
          <p:cNvPr id="5" name="Footer Placeholder 4">
            <a:extLst>
              <a:ext uri="{FF2B5EF4-FFF2-40B4-BE49-F238E27FC236}">
                <a16:creationId xmlns:a16="http://schemas.microsoft.com/office/drawing/2014/main" id="{8E8A2745-674B-1055-2586-CC10BB679239}"/>
              </a:ext>
            </a:extLst>
          </p:cNvPr>
          <p:cNvSpPr>
            <a:spLocks noGrp="1"/>
          </p:cNvSpPr>
          <p:nvPr>
            <p:ph type="ftr" sz="quarter" idx="11"/>
          </p:nvPr>
        </p:nvSpPr>
        <p:spPr/>
        <p:txBody>
          <a:bodyPr/>
          <a:lstStyle/>
          <a:p>
            <a:endParaRPr lang="en-MA"/>
          </a:p>
        </p:txBody>
      </p:sp>
      <p:sp>
        <p:nvSpPr>
          <p:cNvPr id="6" name="Slide Number Placeholder 5">
            <a:extLst>
              <a:ext uri="{FF2B5EF4-FFF2-40B4-BE49-F238E27FC236}">
                <a16:creationId xmlns:a16="http://schemas.microsoft.com/office/drawing/2014/main" id="{C1D2EB46-0231-BE56-E9E0-4408EA7A48BB}"/>
              </a:ext>
            </a:extLst>
          </p:cNvPr>
          <p:cNvSpPr>
            <a:spLocks noGrp="1"/>
          </p:cNvSpPr>
          <p:nvPr>
            <p:ph type="sldNum" sz="quarter" idx="12"/>
          </p:nvPr>
        </p:nvSpPr>
        <p:spPr/>
        <p:txBody>
          <a:bodyPr/>
          <a:lstStyle/>
          <a:p>
            <a:fld id="{9C7BBBE9-DD51-4944-B30A-970ADBD11FC7}" type="slidenum">
              <a:rPr lang="en-MA" smtClean="0"/>
              <a:t>‹#›</a:t>
            </a:fld>
            <a:endParaRPr lang="en-MA"/>
          </a:p>
        </p:txBody>
      </p:sp>
    </p:spTree>
    <p:extLst>
      <p:ext uri="{BB962C8B-B14F-4D97-AF65-F5344CB8AC3E}">
        <p14:creationId xmlns:p14="http://schemas.microsoft.com/office/powerpoint/2010/main" val="1205468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bg>
      <p:bgPr>
        <a:solidFill>
          <a:srgbClr val="06353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A5AB594-3664-8E9E-06CB-D3D33937B75C}"/>
              </a:ext>
            </a:extLst>
          </p:cNvPr>
          <p:cNvCxnSpPr/>
          <p:nvPr userDrawn="1"/>
        </p:nvCxnSpPr>
        <p:spPr>
          <a:xfrm>
            <a:off x="336000" y="547474"/>
            <a:ext cx="11520000" cy="0"/>
          </a:xfrm>
          <a:prstGeom prst="line">
            <a:avLst/>
          </a:prstGeom>
          <a:ln w="19050" cap="rnd">
            <a:solidFill>
              <a:srgbClr val="F1B67C"/>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327E3AE6-1AA2-47C1-4627-E4CAD3494BF7}"/>
              </a:ext>
            </a:extLst>
          </p:cNvPr>
          <p:cNvCxnSpPr/>
          <p:nvPr userDrawn="1"/>
        </p:nvCxnSpPr>
        <p:spPr>
          <a:xfrm>
            <a:off x="336000" y="6315483"/>
            <a:ext cx="11520000" cy="0"/>
          </a:xfrm>
          <a:prstGeom prst="line">
            <a:avLst/>
          </a:prstGeom>
          <a:ln w="19050" cap="rnd">
            <a:solidFill>
              <a:srgbClr val="F1B67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51404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p:bg>
      <p:bgPr>
        <a:solidFill>
          <a:srgbClr val="F8F6C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42000" y="34769"/>
            <a:ext cx="11520000" cy="539672"/>
          </a:xfrm>
          <a:prstGeom prst="rect">
            <a:avLst/>
          </a:prstGeom>
        </p:spPr>
        <p:txBody>
          <a:bodyPr tIns="0" bIns="0"/>
          <a:lstStyle>
            <a:lvl1pPr algn="ctr">
              <a:lnSpc>
                <a:spcPct val="100000"/>
              </a:lnSpc>
              <a:defRPr sz="3600" baseline="0">
                <a:solidFill>
                  <a:schemeClr val="tx1"/>
                </a:solidFill>
                <a:latin typeface="+mn-lt"/>
              </a:defRPr>
            </a:lvl1pPr>
          </a:lstStyle>
          <a:p>
            <a:r>
              <a:rPr lang="en-US"/>
              <a:t>Click to edit Master title style</a:t>
            </a:r>
            <a:endParaRPr lang="en-GB"/>
          </a:p>
        </p:txBody>
      </p:sp>
      <p:cxnSp>
        <p:nvCxnSpPr>
          <p:cNvPr id="7" name="Straight Connector 6"/>
          <p:cNvCxnSpPr/>
          <p:nvPr userDrawn="1"/>
        </p:nvCxnSpPr>
        <p:spPr>
          <a:xfrm>
            <a:off x="342000" y="673830"/>
            <a:ext cx="11520000" cy="0"/>
          </a:xfrm>
          <a:prstGeom prst="line">
            <a:avLst/>
          </a:prstGeom>
          <a:ln w="19050" cap="rnd">
            <a:solidFill>
              <a:srgbClr val="063532"/>
            </a:solidFill>
          </a:ln>
        </p:spPr>
        <p:style>
          <a:lnRef idx="1">
            <a:schemeClr val="accent1"/>
          </a:lnRef>
          <a:fillRef idx="0">
            <a:schemeClr val="accent1"/>
          </a:fillRef>
          <a:effectRef idx="0">
            <a:schemeClr val="accent1"/>
          </a:effectRef>
          <a:fontRef idx="minor">
            <a:schemeClr val="tx1"/>
          </a:fontRef>
        </p:style>
      </p:cxnSp>
      <p:sp>
        <p:nvSpPr>
          <p:cNvPr id="10" name="Content Placeholder 2"/>
          <p:cNvSpPr>
            <a:spLocks noGrp="1"/>
          </p:cNvSpPr>
          <p:nvPr>
            <p:ph sz="half" idx="1" hasCustomPrompt="1"/>
          </p:nvPr>
        </p:nvSpPr>
        <p:spPr>
          <a:xfrm>
            <a:off x="198000" y="767566"/>
            <a:ext cx="11665475" cy="5494085"/>
          </a:xfrm>
          <a:prstGeom prst="rect">
            <a:avLst/>
          </a:prstGeom>
        </p:spPr>
        <p:txBody>
          <a:bodyPr tIns="0" bIns="0"/>
          <a:lstStyle>
            <a:lvl1pPr marL="228600" indent="-228600">
              <a:buClr>
                <a:srgbClr val="B40000"/>
              </a:buClr>
              <a:buSzPct val="75000"/>
              <a:buFontTx/>
              <a:buChar char="►"/>
              <a:defRPr sz="3200">
                <a:solidFill>
                  <a:schemeClr val="tx1"/>
                </a:solidFill>
                <a:latin typeface="+mn-lt"/>
              </a:defRPr>
            </a:lvl1pPr>
            <a:lvl2pPr marL="685800" indent="-228600">
              <a:buClr>
                <a:srgbClr val="B40000"/>
              </a:buClr>
              <a:buSzPct val="75000"/>
              <a:buFontTx/>
              <a:buChar char="►"/>
              <a:defRPr sz="2800">
                <a:solidFill>
                  <a:schemeClr val="tx1"/>
                </a:solidFill>
                <a:latin typeface="+mn-lt"/>
              </a:defRPr>
            </a:lvl2pPr>
            <a:lvl3pPr marL="1143000" indent="-228600">
              <a:buClr>
                <a:srgbClr val="B40000"/>
              </a:buClr>
              <a:buSzPct val="75000"/>
              <a:buFontTx/>
              <a:buChar char="►"/>
              <a:defRPr sz="2400">
                <a:solidFill>
                  <a:schemeClr val="tx1"/>
                </a:solidFill>
                <a:latin typeface="+mn-lt"/>
              </a:defRPr>
            </a:lvl3pPr>
            <a:lvl4pPr marL="1600200" indent="-228600">
              <a:buClr>
                <a:srgbClr val="B40000"/>
              </a:buClr>
              <a:buSzPct val="75000"/>
              <a:buFontTx/>
              <a:buChar char="►"/>
              <a:defRPr sz="2000">
                <a:solidFill>
                  <a:schemeClr val="tx1"/>
                </a:solidFill>
                <a:latin typeface="+mn-lt"/>
              </a:defRPr>
            </a:lvl4pPr>
            <a:lvl5pPr marL="2057400" indent="-228600">
              <a:buClr>
                <a:srgbClr val="B40000"/>
              </a:buClr>
              <a:buSzPct val="75000"/>
              <a:buFontTx/>
              <a:buChar char="►"/>
              <a:defRPr sz="200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Slide Number Placeholder 6">
            <a:extLst>
              <a:ext uri="{FF2B5EF4-FFF2-40B4-BE49-F238E27FC236}">
                <a16:creationId xmlns:a16="http://schemas.microsoft.com/office/drawing/2014/main" id="{7C148890-B4AF-876D-F64B-062232F6784C}"/>
              </a:ext>
            </a:extLst>
          </p:cNvPr>
          <p:cNvSpPr txBox="1">
            <a:spLocks/>
          </p:cNvSpPr>
          <p:nvPr userDrawn="1"/>
        </p:nvSpPr>
        <p:spPr>
          <a:xfrm>
            <a:off x="-60665" y="6508278"/>
            <a:ext cx="711200" cy="365125"/>
          </a:xfrm>
        </p:spPr>
        <p:txBody>
          <a:bodyPr/>
          <a:lstStyle>
            <a:defPPr>
              <a:defRPr lang="en-US"/>
            </a:defPPr>
            <a:lvl1pPr marL="0" algn="l" defTabSz="914400" rtl="0" eaLnBrk="1" latinLnBrk="0" hangingPunct="1">
              <a:defRPr sz="1200" kern="1200">
                <a:solidFill>
                  <a:schemeClr val="tx1"/>
                </a:solidFill>
                <a:latin typeface="Optim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8DC1522-342F-47E4-9CF7-D7732B4FB87D}" type="slidenum">
              <a:rPr lang="en-GB" sz="1200" b="0" smtClean="0">
                <a:solidFill>
                  <a:srgbClr val="F8F6CA"/>
                </a:solidFill>
                <a:latin typeface="+mn-lt"/>
              </a:rPr>
              <a:pPr algn="ctr"/>
              <a:t>‹#›</a:t>
            </a:fld>
            <a:endParaRPr lang="en-GB" sz="1400" b="0">
              <a:solidFill>
                <a:srgbClr val="F8F6CA"/>
              </a:solidFill>
              <a:latin typeface="+mn-lt"/>
            </a:endParaRPr>
          </a:p>
        </p:txBody>
      </p:sp>
    </p:spTree>
    <p:extLst>
      <p:ext uri="{BB962C8B-B14F-4D97-AF65-F5344CB8AC3E}">
        <p14:creationId xmlns:p14="http://schemas.microsoft.com/office/powerpoint/2010/main" val="2093151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0956A3-0AA8-F8F8-359E-2571674A6E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A"/>
          </a:p>
        </p:txBody>
      </p:sp>
      <p:sp>
        <p:nvSpPr>
          <p:cNvPr id="3" name="Text Placeholder 2">
            <a:extLst>
              <a:ext uri="{FF2B5EF4-FFF2-40B4-BE49-F238E27FC236}">
                <a16:creationId xmlns:a16="http://schemas.microsoft.com/office/drawing/2014/main" id="{6C815038-AE16-1B22-EE5F-4712C228C9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A"/>
          </a:p>
        </p:txBody>
      </p:sp>
      <p:sp>
        <p:nvSpPr>
          <p:cNvPr id="4" name="Date Placeholder 3">
            <a:extLst>
              <a:ext uri="{FF2B5EF4-FFF2-40B4-BE49-F238E27FC236}">
                <a16:creationId xmlns:a16="http://schemas.microsoft.com/office/drawing/2014/main" id="{9656DD1B-8889-988E-B190-9D2B5040BC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51EBA5-5D6B-1245-9328-7D2D181FC864}" type="datetimeFigureOut">
              <a:rPr lang="en-MA" smtClean="0"/>
              <a:t>07/22/2026</a:t>
            </a:fld>
            <a:endParaRPr lang="en-MA"/>
          </a:p>
        </p:txBody>
      </p:sp>
      <p:sp>
        <p:nvSpPr>
          <p:cNvPr id="5" name="Footer Placeholder 4">
            <a:extLst>
              <a:ext uri="{FF2B5EF4-FFF2-40B4-BE49-F238E27FC236}">
                <a16:creationId xmlns:a16="http://schemas.microsoft.com/office/drawing/2014/main" id="{63DA8C46-785A-02C3-0D98-6A3BF2C135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A"/>
          </a:p>
        </p:txBody>
      </p:sp>
      <p:sp>
        <p:nvSpPr>
          <p:cNvPr id="6" name="Slide Number Placeholder 5">
            <a:extLst>
              <a:ext uri="{FF2B5EF4-FFF2-40B4-BE49-F238E27FC236}">
                <a16:creationId xmlns:a16="http://schemas.microsoft.com/office/drawing/2014/main" id="{3AEDE843-7CF0-9F56-D589-15438D02BB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7BBBE9-DD51-4944-B30A-970ADBD11FC7}" type="slidenum">
              <a:rPr lang="en-MA" smtClean="0"/>
              <a:t>‹#›</a:t>
            </a:fld>
            <a:endParaRPr lang="en-MA"/>
          </a:p>
        </p:txBody>
      </p:sp>
    </p:spTree>
    <p:extLst>
      <p:ext uri="{BB962C8B-B14F-4D97-AF65-F5344CB8AC3E}">
        <p14:creationId xmlns:p14="http://schemas.microsoft.com/office/powerpoint/2010/main" val="2575588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M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3.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8" Type="http://schemas.openxmlformats.org/officeDocument/2006/relationships/hyperlink" Target="https://doi.org/10.1145/3589334.3645543" TargetMode="External"/><Relationship Id="rId3" Type="http://schemas.openxmlformats.org/officeDocument/2006/relationships/hyperlink" Target="https://doi.org/10.1109/access.2024.3432454" TargetMode="External"/><Relationship Id="rId7" Type="http://schemas.openxmlformats.org/officeDocument/2006/relationships/hyperlink" Target="https://doi.org/10.1145/3672608.3707756" TargetMode="External"/><Relationship Id="rId2" Type="http://schemas.openxmlformats.org/officeDocument/2006/relationships/hyperlink" Target="https://doi.org/10.26735/gnvr4188" TargetMode="External"/><Relationship Id="rId1" Type="http://schemas.openxmlformats.org/officeDocument/2006/relationships/slideLayout" Target="../slideLayouts/slideLayout13.xml"/><Relationship Id="rId6" Type="http://schemas.openxmlformats.org/officeDocument/2006/relationships/hyperlink" Target="https://arxiv.org/abs/2606.19063" TargetMode="External"/><Relationship Id="rId5" Type="http://schemas.openxmlformats.org/officeDocument/2006/relationships/hyperlink" Target="https://arxiv.org/abs/2409.18884" TargetMode="External"/><Relationship Id="rId4" Type="http://schemas.openxmlformats.org/officeDocument/2006/relationships/hyperlink" Target="https://doi.org/10.1145/3691620.369526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353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D9B5EE0A-878A-594B-5E78-A954372A4F11}"/>
              </a:ext>
            </a:extLst>
          </p:cNvPr>
          <p:cNvSpPr txBox="1">
            <a:spLocks/>
          </p:cNvSpPr>
          <p:nvPr/>
        </p:nvSpPr>
        <p:spPr>
          <a:xfrm>
            <a:off x="1066800" y="2722898"/>
            <a:ext cx="10058400" cy="1406520"/>
          </a:xfrm>
          <a:prstGeom prst="rect">
            <a:avLst/>
          </a:prstGeom>
          <a:noFill/>
        </p:spPr>
        <p:txBody>
          <a:bodyPr anchor="b">
            <a:normAutofit fontScale="77500" lnSpcReduction="20000"/>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gn="ctr">
              <a:lnSpc>
                <a:spcPct val="100000"/>
              </a:lnSpc>
            </a:pPr>
            <a:r>
              <a:rPr lang="en-US" b="1" dirty="0">
                <a:solidFill>
                  <a:srgbClr val="00B0F0"/>
                </a:solidFill>
              </a:rPr>
              <a:t>Detecting Supply Chain and Dependency Confusion Attacks in Open-Source Ecosystems</a:t>
            </a:r>
            <a:endParaRPr lang="en-GB" sz="3800" dirty="0">
              <a:solidFill>
                <a:srgbClr val="00B0F0"/>
              </a:solidFill>
              <a:latin typeface="+mn-lt"/>
            </a:endParaRPr>
          </a:p>
        </p:txBody>
      </p:sp>
      <p:sp>
        <p:nvSpPr>
          <p:cNvPr id="8" name="Title 1">
            <a:extLst>
              <a:ext uri="{FF2B5EF4-FFF2-40B4-BE49-F238E27FC236}">
                <a16:creationId xmlns:a16="http://schemas.microsoft.com/office/drawing/2014/main" id="{192D4E25-4A15-F302-45AF-52408EC6981E}"/>
              </a:ext>
            </a:extLst>
          </p:cNvPr>
          <p:cNvSpPr txBox="1">
            <a:spLocks/>
          </p:cNvSpPr>
          <p:nvPr/>
        </p:nvSpPr>
        <p:spPr>
          <a:xfrm>
            <a:off x="206755" y="4967897"/>
            <a:ext cx="4181237" cy="1073497"/>
          </a:xfrm>
          <a:prstGeom prst="rect">
            <a:avLst/>
          </a:prstGeom>
          <a:noFill/>
        </p:spPr>
        <p:txBody>
          <a:bodyPr lIns="91440" tIns="45720" rIns="91440" bIns="45720" anchor="b">
            <a:normAutofit fontScale="77500" lnSpcReduction="20000"/>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nSpc>
                <a:spcPct val="100000"/>
              </a:lnSpc>
            </a:pPr>
            <a:r>
              <a:rPr lang="en-GB" sz="3200" dirty="0">
                <a:solidFill>
                  <a:srgbClr val="F8F6CA"/>
                </a:solidFill>
                <a:latin typeface="+mn-lt"/>
              </a:rPr>
              <a:t>Student Name:  Shivani Burma</a:t>
            </a:r>
          </a:p>
          <a:p>
            <a:pPr>
              <a:lnSpc>
                <a:spcPct val="100000"/>
              </a:lnSpc>
            </a:pPr>
            <a:r>
              <a:rPr lang="en-GB" sz="3200" dirty="0">
                <a:solidFill>
                  <a:srgbClr val="F8F6CA"/>
                </a:solidFill>
                <a:latin typeface="+mn-lt"/>
              </a:rPr>
              <a:t>Date: </a:t>
            </a:r>
          </a:p>
        </p:txBody>
      </p:sp>
      <p:sp>
        <p:nvSpPr>
          <p:cNvPr id="2" name="Title 1">
            <a:extLst>
              <a:ext uri="{FF2B5EF4-FFF2-40B4-BE49-F238E27FC236}">
                <a16:creationId xmlns:a16="http://schemas.microsoft.com/office/drawing/2014/main" id="{F2B3F4AD-9839-C0C0-D927-EEEF3AD674CB}"/>
              </a:ext>
            </a:extLst>
          </p:cNvPr>
          <p:cNvSpPr txBox="1">
            <a:spLocks/>
          </p:cNvSpPr>
          <p:nvPr/>
        </p:nvSpPr>
        <p:spPr>
          <a:xfrm>
            <a:off x="1076546" y="757928"/>
            <a:ext cx="10058400" cy="1710564"/>
          </a:xfrm>
          <a:prstGeom prst="rect">
            <a:avLst/>
          </a:prstGeom>
          <a:noFill/>
        </p:spPr>
        <p:txBody>
          <a:bodyPr lIns="91440" tIns="45720" rIns="91440" bIns="45720" anchor="b">
            <a:normAutofit/>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gn="ctr">
              <a:lnSpc>
                <a:spcPct val="100000"/>
              </a:lnSpc>
            </a:pPr>
            <a:r>
              <a:rPr lang="en-GB" sz="4800" b="1" dirty="0">
                <a:solidFill>
                  <a:srgbClr val="00C487"/>
                </a:solidFill>
              </a:rPr>
              <a:t>MSc Project </a:t>
            </a:r>
          </a:p>
          <a:p>
            <a:pPr algn="ctr">
              <a:lnSpc>
                <a:spcPct val="100000"/>
              </a:lnSpc>
            </a:pPr>
            <a:r>
              <a:rPr lang="en-GB" sz="2200" dirty="0">
                <a:solidFill>
                  <a:srgbClr val="00C487"/>
                </a:solidFill>
                <a:latin typeface="+mn-lt"/>
              </a:rPr>
              <a:t>(CMP060L050H) </a:t>
            </a:r>
            <a:endParaRPr lang="en-GB" b="1" dirty="0">
              <a:solidFill>
                <a:srgbClr val="FFFFFF"/>
              </a:solidFill>
              <a:latin typeface="Calibri Light" panose="020F0302020204030204"/>
              <a:cs typeface="Calibri Light" panose="020F0302020204030204"/>
            </a:endParaRPr>
          </a:p>
          <a:p>
            <a:pPr algn="ctr">
              <a:lnSpc>
                <a:spcPct val="100000"/>
              </a:lnSpc>
            </a:pPr>
            <a:r>
              <a:rPr lang="en-GB" sz="3200" dirty="0">
                <a:solidFill>
                  <a:srgbClr val="F8F6CA"/>
                </a:solidFill>
                <a:latin typeface="+mn-lt"/>
              </a:rPr>
              <a:t>Viva Presentation </a:t>
            </a:r>
          </a:p>
        </p:txBody>
      </p:sp>
      <p:sp>
        <p:nvSpPr>
          <p:cNvPr id="4" name="Title 1">
            <a:extLst>
              <a:ext uri="{FF2B5EF4-FFF2-40B4-BE49-F238E27FC236}">
                <a16:creationId xmlns:a16="http://schemas.microsoft.com/office/drawing/2014/main" id="{4060847A-EE14-C513-3261-90AEF6F8B76E}"/>
              </a:ext>
            </a:extLst>
          </p:cNvPr>
          <p:cNvSpPr txBox="1">
            <a:spLocks/>
          </p:cNvSpPr>
          <p:nvPr/>
        </p:nvSpPr>
        <p:spPr>
          <a:xfrm>
            <a:off x="7809822" y="4967897"/>
            <a:ext cx="4181237" cy="1073497"/>
          </a:xfrm>
          <a:prstGeom prst="rect">
            <a:avLst/>
          </a:prstGeom>
          <a:noFill/>
        </p:spPr>
        <p:txBody>
          <a:bodyPr lIns="91440" tIns="45720" rIns="91440" bIns="45720" anchor="b">
            <a:normAutofit fontScale="92500"/>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nSpc>
                <a:spcPct val="100000"/>
              </a:lnSpc>
            </a:pPr>
            <a:r>
              <a:rPr lang="en-GB" sz="3200" dirty="0">
                <a:solidFill>
                  <a:srgbClr val="F8F6CA"/>
                </a:solidFill>
                <a:latin typeface="+mn-lt"/>
              </a:rPr>
              <a:t>Supervisor</a:t>
            </a:r>
            <a:r>
              <a:rPr lang="en-GB" sz="3200" dirty="0">
                <a:solidFill>
                  <a:srgbClr val="F8F6CA"/>
                </a:solidFill>
                <a:ea typeface="+mj-lt"/>
                <a:cs typeface="+mj-lt"/>
              </a:rPr>
              <a:t>: Professor Badis</a:t>
            </a:r>
            <a:endParaRPr lang="en-GB" sz="3200" dirty="0">
              <a:solidFill>
                <a:srgbClr val="000000"/>
              </a:solidFill>
              <a:ea typeface="+mj-lt"/>
              <a:cs typeface="+mj-lt"/>
            </a:endParaRPr>
          </a:p>
          <a:p>
            <a:pPr>
              <a:lnSpc>
                <a:spcPct val="100000"/>
              </a:lnSpc>
            </a:pPr>
            <a:r>
              <a:rPr lang="en-GB" sz="3200" dirty="0">
                <a:solidFill>
                  <a:srgbClr val="F8F6CA"/>
                </a:solidFill>
                <a:latin typeface="+mn-lt"/>
              </a:rPr>
              <a:t>Second Marker:  </a:t>
            </a:r>
            <a:endParaRPr lang="en-GB" dirty="0">
              <a:cs typeface="Calibri Light"/>
            </a:endParaRPr>
          </a:p>
        </p:txBody>
      </p:sp>
    </p:spTree>
    <p:extLst>
      <p:ext uri="{BB962C8B-B14F-4D97-AF65-F5344CB8AC3E}">
        <p14:creationId xmlns:p14="http://schemas.microsoft.com/office/powerpoint/2010/main" val="2656287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022A-DE3A-DDB6-DA5E-1C431E0059D9}"/>
              </a:ext>
            </a:extLst>
          </p:cNvPr>
          <p:cNvSpPr>
            <a:spLocks noGrp="1"/>
          </p:cNvSpPr>
          <p:nvPr>
            <p:ph type="title"/>
          </p:nvPr>
        </p:nvSpPr>
        <p:spPr/>
        <p:txBody>
          <a:bodyPr>
            <a:normAutofit fontScale="90000"/>
          </a:bodyPr>
          <a:lstStyle/>
          <a:p>
            <a:r>
              <a:rPr lang="en-IN" dirty="0"/>
              <a:t>Project Context</a:t>
            </a:r>
            <a:endParaRPr lang="en-GB" dirty="0">
              <a:latin typeface="+mn-lt"/>
            </a:endParaRPr>
          </a:p>
        </p:txBody>
      </p:sp>
      <p:sp>
        <p:nvSpPr>
          <p:cNvPr id="4" name="Content Placeholder 3">
            <a:extLst>
              <a:ext uri="{FF2B5EF4-FFF2-40B4-BE49-F238E27FC236}">
                <a16:creationId xmlns:a16="http://schemas.microsoft.com/office/drawing/2014/main" id="{DB3C37E4-1F85-E1DF-6618-448C08528F39}"/>
              </a:ext>
            </a:extLst>
          </p:cNvPr>
          <p:cNvSpPr>
            <a:spLocks noGrp="1"/>
          </p:cNvSpPr>
          <p:nvPr>
            <p:ph sz="half" idx="1"/>
          </p:nvPr>
        </p:nvSpPr>
        <p:spPr>
          <a:xfrm>
            <a:off x="198001" y="767567"/>
            <a:ext cx="9328772" cy="2975094"/>
          </a:xfrm>
        </p:spPr>
        <p:txBody>
          <a:bodyPr vert="horz" lIns="91440" tIns="0" rIns="91440" bIns="0" rtlCol="0" anchor="t">
            <a:normAutofit fontScale="92500"/>
          </a:bodyPr>
          <a:lstStyle/>
          <a:p>
            <a:r>
              <a:rPr lang="en-IN" b="1" dirty="0"/>
              <a:t>Software Supply Chain Security</a:t>
            </a:r>
          </a:p>
          <a:p>
            <a:pPr lvl="1">
              <a:buFont typeface="Courier New"/>
              <a:buChar char="o"/>
            </a:pPr>
            <a:r>
              <a:rPr lang="en-US" dirty="0">
                <a:cs typeface="Calibri"/>
              </a:rPr>
              <a:t>Open-source software is widely used in modern software development.</a:t>
            </a:r>
          </a:p>
          <a:p>
            <a:pPr lvl="1">
              <a:buFont typeface="Courier New"/>
              <a:buChar char="o"/>
            </a:pPr>
            <a:r>
              <a:rPr lang="en-US" dirty="0" err="1">
                <a:cs typeface="Calibri"/>
              </a:rPr>
              <a:t>PyPI</a:t>
            </a:r>
            <a:r>
              <a:rPr lang="en-US" dirty="0">
                <a:cs typeface="Calibri"/>
              </a:rPr>
              <a:t> hosts thousands of publicly available Python packages.</a:t>
            </a:r>
          </a:p>
          <a:p>
            <a:pPr lvl="1">
              <a:buFont typeface="Courier New"/>
              <a:buChar char="o"/>
            </a:pPr>
            <a:r>
              <a:rPr lang="en-US" dirty="0">
                <a:cs typeface="Calibri"/>
              </a:rPr>
              <a:t>Developers frequently rely on third-party dependencies.</a:t>
            </a:r>
          </a:p>
          <a:p>
            <a:pPr lvl="1">
              <a:buFont typeface="Courier New"/>
              <a:buChar char="o"/>
            </a:pPr>
            <a:r>
              <a:rPr lang="en-US" dirty="0">
                <a:cs typeface="Calibri"/>
              </a:rPr>
              <a:t>Malicious packages increasingly target trusted repositories.</a:t>
            </a:r>
          </a:p>
          <a:p>
            <a:pPr lvl="1">
              <a:buFont typeface="Courier New"/>
              <a:buChar char="o"/>
            </a:pPr>
            <a:r>
              <a:rPr lang="en-US" dirty="0">
                <a:cs typeface="Calibri"/>
              </a:rPr>
              <a:t>Supply chain attacks threaten software integrity and security.</a:t>
            </a:r>
          </a:p>
          <a:p>
            <a:pPr lvl="1">
              <a:buFont typeface="Courier New"/>
              <a:buChar char="o"/>
            </a:pPr>
            <a:endParaRPr lang="en-US" dirty="0">
              <a:cs typeface="Calibri"/>
            </a:endParaRPr>
          </a:p>
        </p:txBody>
      </p:sp>
      <p:pic>
        <p:nvPicPr>
          <p:cNvPr id="3" name="Picture 2" descr="Pip Python Logo, HD Png Download - vhv">
            <a:extLst>
              <a:ext uri="{FF2B5EF4-FFF2-40B4-BE49-F238E27FC236}">
                <a16:creationId xmlns:a16="http://schemas.microsoft.com/office/drawing/2014/main" id="{C1F9FD60-A0E7-E159-B028-0D26EFC25752}"/>
              </a:ext>
            </a:extLst>
          </p:cNvPr>
          <p:cNvPicPr>
            <a:picLocks noChangeAspect="1"/>
          </p:cNvPicPr>
          <p:nvPr/>
        </p:nvPicPr>
        <p:blipFill>
          <a:blip r:embed="rId3"/>
          <a:stretch>
            <a:fillRect/>
          </a:stretch>
        </p:blipFill>
        <p:spPr>
          <a:xfrm>
            <a:off x="9211732" y="939225"/>
            <a:ext cx="2650268" cy="1315889"/>
          </a:xfrm>
          <a:prstGeom prst="rect">
            <a:avLst/>
          </a:prstGeom>
        </p:spPr>
      </p:pic>
      <p:pic>
        <p:nvPicPr>
          <p:cNvPr id="5" name="Picture 4" descr="An Overview of Software Supply Chain Security">
            <a:extLst>
              <a:ext uri="{FF2B5EF4-FFF2-40B4-BE49-F238E27FC236}">
                <a16:creationId xmlns:a16="http://schemas.microsoft.com/office/drawing/2014/main" id="{CAA54B0D-2F99-56D6-8B5D-E1D37D42056C}"/>
              </a:ext>
            </a:extLst>
          </p:cNvPr>
          <p:cNvPicPr>
            <a:picLocks noChangeAspect="1"/>
          </p:cNvPicPr>
          <p:nvPr/>
        </p:nvPicPr>
        <p:blipFill>
          <a:blip r:embed="rId4"/>
          <a:stretch>
            <a:fillRect/>
          </a:stretch>
        </p:blipFill>
        <p:spPr>
          <a:xfrm>
            <a:off x="342000" y="3742661"/>
            <a:ext cx="4750995" cy="2691740"/>
          </a:xfrm>
          <a:prstGeom prst="rect">
            <a:avLst/>
          </a:prstGeom>
        </p:spPr>
      </p:pic>
      <p:pic>
        <p:nvPicPr>
          <p:cNvPr id="6" name="Picture 5" descr="Cyber Attack Icon Security Icon Stock Vector (Royalty Free) 2210578071 |  Shutterstock">
            <a:extLst>
              <a:ext uri="{FF2B5EF4-FFF2-40B4-BE49-F238E27FC236}">
                <a16:creationId xmlns:a16="http://schemas.microsoft.com/office/drawing/2014/main" id="{B85A9AE6-4ADC-31B4-922C-57B423E26CDA}"/>
              </a:ext>
            </a:extLst>
          </p:cNvPr>
          <p:cNvPicPr>
            <a:picLocks noChangeAspect="1"/>
          </p:cNvPicPr>
          <p:nvPr/>
        </p:nvPicPr>
        <p:blipFill>
          <a:blip r:embed="rId5"/>
          <a:srcRect t="12326" b="21494"/>
          <a:stretch>
            <a:fillRect/>
          </a:stretch>
        </p:blipFill>
        <p:spPr>
          <a:xfrm>
            <a:off x="9298616" y="2426772"/>
            <a:ext cx="2476500" cy="1765004"/>
          </a:xfrm>
          <a:prstGeom prst="rect">
            <a:avLst/>
          </a:prstGeom>
        </p:spPr>
      </p:pic>
      <p:sp>
        <p:nvSpPr>
          <p:cNvPr id="7" name="TextBox 6">
            <a:extLst>
              <a:ext uri="{FF2B5EF4-FFF2-40B4-BE49-F238E27FC236}">
                <a16:creationId xmlns:a16="http://schemas.microsoft.com/office/drawing/2014/main" id="{00CC2D0B-BF62-3A4C-48E1-E59813529872}"/>
              </a:ext>
            </a:extLst>
          </p:cNvPr>
          <p:cNvSpPr txBox="1"/>
          <p:nvPr/>
        </p:nvSpPr>
        <p:spPr>
          <a:xfrm>
            <a:off x="5539563" y="4191776"/>
            <a:ext cx="6113721" cy="1384995"/>
          </a:xfrm>
          <a:prstGeom prst="rect">
            <a:avLst/>
          </a:prstGeom>
          <a:noFill/>
        </p:spPr>
        <p:txBody>
          <a:bodyPr wrap="square" rtlCol="0">
            <a:spAutoFit/>
          </a:bodyPr>
          <a:lstStyle/>
          <a:p>
            <a:pPr algn="just"/>
            <a:r>
              <a:rPr lang="en-IN" sz="3600" b="1" dirty="0"/>
              <a:t>Key Takeaway</a:t>
            </a:r>
          </a:p>
          <a:p>
            <a:pPr algn="just"/>
            <a:r>
              <a:rPr lang="en-IN" sz="2400" dirty="0"/>
              <a:t>Open-source ecosystems require proactive protection against malicious package attacks. </a:t>
            </a:r>
          </a:p>
        </p:txBody>
      </p:sp>
    </p:spTree>
    <p:extLst>
      <p:ext uri="{BB962C8B-B14F-4D97-AF65-F5344CB8AC3E}">
        <p14:creationId xmlns:p14="http://schemas.microsoft.com/office/powerpoint/2010/main" val="376204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96E8E-A0A7-36BB-F744-A2727B317ECB}"/>
              </a:ext>
            </a:extLst>
          </p:cNvPr>
          <p:cNvSpPr>
            <a:spLocks noGrp="1"/>
          </p:cNvSpPr>
          <p:nvPr>
            <p:ph type="title"/>
          </p:nvPr>
        </p:nvSpPr>
        <p:spPr/>
        <p:txBody>
          <a:bodyPr>
            <a:normAutofit fontScale="90000"/>
          </a:bodyPr>
          <a:lstStyle/>
          <a:p>
            <a:r>
              <a:rPr lang="en-IN" dirty="0"/>
              <a:t>Problem Statement</a:t>
            </a:r>
            <a:endParaRPr lang="en-GB" dirty="0"/>
          </a:p>
        </p:txBody>
      </p:sp>
      <p:sp>
        <p:nvSpPr>
          <p:cNvPr id="3" name="Content Placeholder 2">
            <a:extLst>
              <a:ext uri="{FF2B5EF4-FFF2-40B4-BE49-F238E27FC236}">
                <a16:creationId xmlns:a16="http://schemas.microsoft.com/office/drawing/2014/main" id="{9C671AC4-D5A7-520C-D43D-40151EE7E5A5}"/>
              </a:ext>
            </a:extLst>
          </p:cNvPr>
          <p:cNvSpPr>
            <a:spLocks noGrp="1"/>
          </p:cNvSpPr>
          <p:nvPr>
            <p:ph sz="half" idx="1"/>
          </p:nvPr>
        </p:nvSpPr>
        <p:spPr>
          <a:xfrm>
            <a:off x="198000" y="767566"/>
            <a:ext cx="8286781" cy="5494085"/>
          </a:xfrm>
        </p:spPr>
        <p:txBody>
          <a:bodyPr vert="horz" lIns="91440" tIns="0" rIns="91440" bIns="0" rtlCol="0" anchor="t">
            <a:normAutofit/>
          </a:bodyPr>
          <a:lstStyle/>
          <a:p>
            <a:pPr marL="0" indent="0">
              <a:buNone/>
            </a:pPr>
            <a:r>
              <a:rPr lang="en-IN" sz="2400" b="1" dirty="0"/>
              <a:t>Research Problem</a:t>
            </a:r>
          </a:p>
          <a:p>
            <a:r>
              <a:rPr lang="en-IN" sz="2400" b="1" dirty="0"/>
              <a:t>Existing Challenges</a:t>
            </a:r>
          </a:p>
          <a:p>
            <a:pPr>
              <a:buFont typeface="Arial" panose="020B0604020202020204" pitchFamily="34" charset="0"/>
              <a:buChar char="•"/>
            </a:pPr>
            <a:r>
              <a:rPr lang="en-IN" sz="2400" dirty="0"/>
              <a:t>Dependency confusion attacks exploit package resolution. </a:t>
            </a:r>
          </a:p>
          <a:p>
            <a:pPr>
              <a:buFont typeface="Arial" panose="020B0604020202020204" pitchFamily="34" charset="0"/>
              <a:buChar char="•"/>
            </a:pPr>
            <a:r>
              <a:rPr lang="en-IN" sz="2400" dirty="0" err="1"/>
              <a:t>Typosquatting</a:t>
            </a:r>
            <a:r>
              <a:rPr lang="en-IN" sz="2400" dirty="0"/>
              <a:t> mimics legitimate package names. </a:t>
            </a:r>
          </a:p>
          <a:p>
            <a:pPr>
              <a:buFont typeface="Arial" panose="020B0604020202020204" pitchFamily="34" charset="0"/>
              <a:buChar char="•"/>
            </a:pPr>
            <a:r>
              <a:rPr lang="en-IN" sz="2400" dirty="0"/>
              <a:t>Static analysis is computationally expensive. </a:t>
            </a:r>
          </a:p>
          <a:p>
            <a:pPr>
              <a:buFont typeface="Arial" panose="020B0604020202020204" pitchFamily="34" charset="0"/>
              <a:buChar char="•"/>
            </a:pPr>
            <a:r>
              <a:rPr lang="en-IN" sz="2400" dirty="0"/>
              <a:t>Dynamic analysis detects threats only after execution. </a:t>
            </a:r>
          </a:p>
          <a:p>
            <a:pPr>
              <a:buFont typeface="Arial" panose="020B0604020202020204" pitchFamily="34" charset="0"/>
              <a:buChar char="•"/>
            </a:pPr>
            <a:r>
              <a:rPr lang="en-IN" sz="2400" dirty="0"/>
              <a:t>Existing methods increase security cost and response time. </a:t>
            </a:r>
          </a:p>
          <a:p>
            <a:r>
              <a:rPr lang="en-IN" sz="2400" b="1" dirty="0"/>
              <a:t>Proposed Solution</a:t>
            </a:r>
          </a:p>
          <a:p>
            <a:pPr marL="0" indent="0">
              <a:buNone/>
            </a:pPr>
            <a:r>
              <a:rPr lang="en-IN" sz="2400" dirty="0"/>
              <a:t>Develop a lightweight ML framework capable of detecting suspicious packages before installation.</a:t>
            </a:r>
          </a:p>
          <a:p>
            <a:r>
              <a:rPr lang="en-IN" sz="2400" b="1" dirty="0"/>
              <a:t>Key Message</a:t>
            </a:r>
          </a:p>
          <a:p>
            <a:pPr marL="0" indent="0">
              <a:buNone/>
            </a:pPr>
            <a:r>
              <a:rPr lang="en-IN" sz="2400" dirty="0"/>
              <a:t>Early detection significantly reduces software supply chain risks.</a:t>
            </a:r>
          </a:p>
          <a:p>
            <a:pPr marL="0" indent="0">
              <a:buNone/>
            </a:pPr>
            <a:endParaRPr lang="en-IN" sz="2400" dirty="0"/>
          </a:p>
        </p:txBody>
      </p:sp>
      <p:pic>
        <p:nvPicPr>
          <p:cNvPr id="5" name="Picture 4">
            <a:extLst>
              <a:ext uri="{FF2B5EF4-FFF2-40B4-BE49-F238E27FC236}">
                <a16:creationId xmlns:a16="http://schemas.microsoft.com/office/drawing/2014/main" id="{455C68A1-59A3-C9CC-909F-A2AD766FE23D}"/>
              </a:ext>
            </a:extLst>
          </p:cNvPr>
          <p:cNvPicPr>
            <a:picLocks noChangeAspect="1"/>
          </p:cNvPicPr>
          <p:nvPr/>
        </p:nvPicPr>
        <p:blipFill>
          <a:blip r:embed="rId3"/>
          <a:stretch>
            <a:fillRect/>
          </a:stretch>
        </p:blipFill>
        <p:spPr>
          <a:xfrm>
            <a:off x="7788716" y="767566"/>
            <a:ext cx="4073283" cy="4389225"/>
          </a:xfrm>
          <a:prstGeom prst="rect">
            <a:avLst/>
          </a:prstGeom>
        </p:spPr>
      </p:pic>
    </p:spTree>
    <p:extLst>
      <p:ext uri="{BB962C8B-B14F-4D97-AF65-F5344CB8AC3E}">
        <p14:creationId xmlns:p14="http://schemas.microsoft.com/office/powerpoint/2010/main" val="1817344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3022A-DE3A-DDB6-DA5E-1C431E0059D9}"/>
              </a:ext>
            </a:extLst>
          </p:cNvPr>
          <p:cNvSpPr>
            <a:spLocks noGrp="1"/>
          </p:cNvSpPr>
          <p:nvPr>
            <p:ph type="title"/>
          </p:nvPr>
        </p:nvSpPr>
        <p:spPr/>
        <p:txBody>
          <a:bodyPr>
            <a:normAutofit/>
          </a:bodyPr>
          <a:lstStyle/>
          <a:p>
            <a:pPr>
              <a:lnSpc>
                <a:spcPct val="90000"/>
              </a:lnSpc>
              <a:spcBef>
                <a:spcPts val="1000"/>
              </a:spcBef>
            </a:pPr>
            <a:r>
              <a:rPr lang="en-IN" dirty="0"/>
              <a:t>Aim and Objectives</a:t>
            </a:r>
            <a:endParaRPr lang="en-US" dirty="0">
              <a:latin typeface="Arial"/>
              <a:cs typeface="Arial"/>
            </a:endParaRPr>
          </a:p>
        </p:txBody>
      </p:sp>
      <p:sp>
        <p:nvSpPr>
          <p:cNvPr id="3" name="Content Placeholder 2">
            <a:extLst>
              <a:ext uri="{FF2B5EF4-FFF2-40B4-BE49-F238E27FC236}">
                <a16:creationId xmlns:a16="http://schemas.microsoft.com/office/drawing/2014/main" id="{0BC9A7BC-4FAF-68F0-47CA-4CAD17B43F3C}"/>
              </a:ext>
            </a:extLst>
          </p:cNvPr>
          <p:cNvSpPr>
            <a:spLocks noGrp="1"/>
          </p:cNvSpPr>
          <p:nvPr>
            <p:ph sz="half" idx="1"/>
          </p:nvPr>
        </p:nvSpPr>
        <p:spPr>
          <a:xfrm>
            <a:off x="137750" y="778199"/>
            <a:ext cx="11663999" cy="3985187"/>
          </a:xfrm>
        </p:spPr>
        <p:txBody>
          <a:bodyPr vert="horz" lIns="91440" tIns="0" rIns="91440" bIns="0" rtlCol="0" anchor="t">
            <a:noAutofit/>
          </a:bodyPr>
          <a:lstStyle/>
          <a:p>
            <a:pPr algn="just">
              <a:lnSpc>
                <a:spcPct val="100000"/>
              </a:lnSpc>
            </a:pPr>
            <a:r>
              <a:rPr lang="en-IN" sz="2400" b="1" dirty="0"/>
              <a:t>Research Aim</a:t>
            </a:r>
          </a:p>
          <a:p>
            <a:pPr marL="0" indent="0" algn="just">
              <a:lnSpc>
                <a:spcPct val="100000"/>
              </a:lnSpc>
              <a:buNone/>
            </a:pPr>
            <a:r>
              <a:rPr lang="en-IN" sz="2400" dirty="0"/>
              <a:t>Develop a lightweight machine learning framework that identifies suspicious Python packages before installation using publicly available package metadata.</a:t>
            </a:r>
          </a:p>
          <a:p>
            <a:pPr algn="just">
              <a:lnSpc>
                <a:spcPct val="100000"/>
              </a:lnSpc>
            </a:pPr>
            <a:r>
              <a:rPr lang="en-IN" sz="2400" b="1" dirty="0"/>
              <a:t>Objectives</a:t>
            </a:r>
          </a:p>
          <a:p>
            <a:pPr algn="just">
              <a:lnSpc>
                <a:spcPct val="100000"/>
              </a:lnSpc>
              <a:buFont typeface="Courier New" panose="02070309020205020404" pitchFamily="49" charset="0"/>
              <a:buChar char="o"/>
            </a:pPr>
            <a:r>
              <a:rPr lang="en-IN" sz="2400" dirty="0"/>
              <a:t>Investigate software supply chain attacks. </a:t>
            </a:r>
          </a:p>
          <a:p>
            <a:pPr algn="just">
              <a:lnSpc>
                <a:spcPct val="100000"/>
              </a:lnSpc>
              <a:buFont typeface="Courier New" panose="02070309020205020404" pitchFamily="49" charset="0"/>
              <a:buChar char="o"/>
            </a:pPr>
            <a:r>
              <a:rPr lang="en-IN" sz="2400" dirty="0"/>
              <a:t>Collect metadata from </a:t>
            </a:r>
            <a:r>
              <a:rPr lang="en-IN" sz="2400" dirty="0" err="1"/>
              <a:t>PyPI</a:t>
            </a:r>
            <a:r>
              <a:rPr lang="en-IN" sz="2400" dirty="0"/>
              <a:t>. </a:t>
            </a:r>
          </a:p>
          <a:p>
            <a:pPr algn="just">
              <a:lnSpc>
                <a:spcPct val="100000"/>
              </a:lnSpc>
              <a:buFont typeface="Courier New" panose="02070309020205020404" pitchFamily="49" charset="0"/>
              <a:buChar char="o"/>
            </a:pPr>
            <a:r>
              <a:rPr lang="en-IN" sz="2400" dirty="0"/>
              <a:t>Construct labelled datasets. </a:t>
            </a:r>
          </a:p>
          <a:p>
            <a:pPr algn="just">
              <a:lnSpc>
                <a:spcPct val="100000"/>
              </a:lnSpc>
              <a:buFont typeface="Courier New" panose="02070309020205020404" pitchFamily="49" charset="0"/>
              <a:buChar char="o"/>
            </a:pPr>
            <a:r>
              <a:rPr lang="en-IN" sz="2400" dirty="0"/>
              <a:t>Engineer metadata features. </a:t>
            </a:r>
          </a:p>
          <a:p>
            <a:pPr algn="just">
              <a:lnSpc>
                <a:spcPct val="100000"/>
              </a:lnSpc>
              <a:buFont typeface="Courier New" panose="02070309020205020404" pitchFamily="49" charset="0"/>
              <a:buChar char="o"/>
            </a:pPr>
            <a:r>
              <a:rPr lang="en-IN" sz="2400" dirty="0"/>
              <a:t>Train multiple ML classifiers. </a:t>
            </a:r>
          </a:p>
          <a:p>
            <a:pPr algn="just">
              <a:lnSpc>
                <a:spcPct val="100000"/>
              </a:lnSpc>
              <a:buFont typeface="Courier New" panose="02070309020205020404" pitchFamily="49" charset="0"/>
              <a:buChar char="o"/>
            </a:pPr>
            <a:r>
              <a:rPr lang="en-IN" sz="2400" dirty="0"/>
              <a:t>Validate using </a:t>
            </a:r>
            <a:r>
              <a:rPr lang="en-IN" sz="2400" dirty="0" err="1"/>
              <a:t>OpenSSF</a:t>
            </a:r>
            <a:r>
              <a:rPr lang="en-IN" sz="2400" dirty="0"/>
              <a:t> repository. </a:t>
            </a:r>
          </a:p>
          <a:p>
            <a:pPr algn="just">
              <a:lnSpc>
                <a:spcPct val="100000"/>
              </a:lnSpc>
              <a:buFont typeface="Courier New" panose="02070309020205020404" pitchFamily="49" charset="0"/>
              <a:buChar char="o"/>
            </a:pPr>
            <a:r>
              <a:rPr lang="en-IN" sz="2400" dirty="0"/>
              <a:t>Deploy an interactive </a:t>
            </a:r>
            <a:r>
              <a:rPr lang="en-IN" sz="2400" dirty="0" err="1"/>
              <a:t>Streamlit</a:t>
            </a:r>
            <a:r>
              <a:rPr lang="en-IN" sz="2400" dirty="0"/>
              <a:t> application.</a:t>
            </a:r>
          </a:p>
        </p:txBody>
      </p:sp>
    </p:spTree>
    <p:extLst>
      <p:ext uri="{BB962C8B-B14F-4D97-AF65-F5344CB8AC3E}">
        <p14:creationId xmlns:p14="http://schemas.microsoft.com/office/powerpoint/2010/main" val="22925305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GB" dirty="0"/>
              <a:t>L</a:t>
            </a:r>
            <a:r>
              <a:rPr lang="en-MA" dirty="0"/>
              <a:t>iterature </a:t>
            </a:r>
            <a:r>
              <a:rPr lang="en-GB" dirty="0"/>
              <a:t>R</a:t>
            </a:r>
            <a:r>
              <a:rPr lang="en-MA" dirty="0"/>
              <a:t>eview</a:t>
            </a:r>
          </a:p>
        </p:txBody>
      </p:sp>
      <p:graphicFrame>
        <p:nvGraphicFramePr>
          <p:cNvPr id="6" name="Content Placeholder 5">
            <a:extLst>
              <a:ext uri="{FF2B5EF4-FFF2-40B4-BE49-F238E27FC236}">
                <a16:creationId xmlns:a16="http://schemas.microsoft.com/office/drawing/2014/main" id="{A6403806-BFDE-3D1A-5A1B-AD97B82C1912}"/>
              </a:ext>
            </a:extLst>
          </p:cNvPr>
          <p:cNvGraphicFramePr>
            <a:graphicFrameLocks noGrp="1"/>
          </p:cNvGraphicFramePr>
          <p:nvPr>
            <p:ph sz="half" idx="1"/>
            <p:extLst>
              <p:ext uri="{D42A27DB-BD31-4B8C-83A1-F6EECF244321}">
                <p14:modId xmlns:p14="http://schemas.microsoft.com/office/powerpoint/2010/main" val="1123916389"/>
              </p:ext>
            </p:extLst>
          </p:nvPr>
        </p:nvGraphicFramePr>
        <p:xfrm>
          <a:off x="584791" y="1184910"/>
          <a:ext cx="11277209" cy="2244090"/>
        </p:xfrm>
        <a:graphic>
          <a:graphicData uri="http://schemas.openxmlformats.org/drawingml/2006/table">
            <a:tbl>
              <a:tblPr firstRow="1" firstCol="1" bandRow="1">
                <a:tableStyleId>{5C22544A-7EE6-4342-B048-85BDC9FD1C3A}</a:tableStyleId>
              </a:tblPr>
              <a:tblGrid>
                <a:gridCol w="2806995">
                  <a:extLst>
                    <a:ext uri="{9D8B030D-6E8A-4147-A177-3AD203B41FA5}">
                      <a16:colId xmlns:a16="http://schemas.microsoft.com/office/drawing/2014/main" val="1305485092"/>
                    </a:ext>
                  </a:extLst>
                </a:gridCol>
                <a:gridCol w="4004540">
                  <a:extLst>
                    <a:ext uri="{9D8B030D-6E8A-4147-A177-3AD203B41FA5}">
                      <a16:colId xmlns:a16="http://schemas.microsoft.com/office/drawing/2014/main" val="643733487"/>
                    </a:ext>
                  </a:extLst>
                </a:gridCol>
                <a:gridCol w="4465674">
                  <a:extLst>
                    <a:ext uri="{9D8B030D-6E8A-4147-A177-3AD203B41FA5}">
                      <a16:colId xmlns:a16="http://schemas.microsoft.com/office/drawing/2014/main" val="3654893763"/>
                    </a:ext>
                  </a:extLst>
                </a:gridCol>
              </a:tblGrid>
              <a:tr h="141838">
                <a:tc>
                  <a:txBody>
                    <a:bodyPr/>
                    <a:lstStyle/>
                    <a:p>
                      <a:pPr algn="ctr">
                        <a:lnSpc>
                          <a:spcPct val="150000"/>
                        </a:lnSpc>
                        <a:buNone/>
                      </a:pPr>
                      <a:r>
                        <a:rPr lang="en-IN" sz="2200">
                          <a:effectLst/>
                        </a:rPr>
                        <a:t>Method</a:t>
                      </a:r>
                      <a:endParaRPr lang="en-IN" sz="220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tc>
                  <a:txBody>
                    <a:bodyPr/>
                    <a:lstStyle/>
                    <a:p>
                      <a:pPr algn="ctr">
                        <a:lnSpc>
                          <a:spcPct val="150000"/>
                        </a:lnSpc>
                        <a:buNone/>
                      </a:pPr>
                      <a:r>
                        <a:rPr lang="en-IN" sz="2200">
                          <a:effectLst/>
                        </a:rPr>
                        <a:t>Strength</a:t>
                      </a:r>
                      <a:endParaRPr lang="en-IN" sz="220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tc>
                  <a:txBody>
                    <a:bodyPr/>
                    <a:lstStyle/>
                    <a:p>
                      <a:pPr algn="ctr">
                        <a:lnSpc>
                          <a:spcPct val="150000"/>
                        </a:lnSpc>
                        <a:buNone/>
                      </a:pPr>
                      <a:r>
                        <a:rPr lang="en-IN" sz="2200" dirty="0">
                          <a:effectLst/>
                        </a:rPr>
                        <a:t>Limitation</a:t>
                      </a:r>
                      <a:endParaRPr lang="en-IN" sz="22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extLst>
                  <a:ext uri="{0D108BD9-81ED-4DB2-BD59-A6C34878D82A}">
                    <a16:rowId xmlns:a16="http://schemas.microsoft.com/office/drawing/2014/main" val="3942422671"/>
                  </a:ext>
                </a:extLst>
              </a:tr>
              <a:tr h="141838">
                <a:tc>
                  <a:txBody>
                    <a:bodyPr/>
                    <a:lstStyle/>
                    <a:p>
                      <a:pPr algn="ctr">
                        <a:lnSpc>
                          <a:spcPct val="150000"/>
                        </a:lnSpc>
                        <a:buNone/>
                      </a:pPr>
                      <a:r>
                        <a:rPr lang="en-IN" sz="2200">
                          <a:effectLst/>
                        </a:rPr>
                        <a:t>Static Analysis</a:t>
                      </a:r>
                      <a:endParaRPr lang="en-IN" sz="220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tc>
                  <a:txBody>
                    <a:bodyPr/>
                    <a:lstStyle/>
                    <a:p>
                      <a:pPr algn="ctr">
                        <a:lnSpc>
                          <a:spcPct val="150000"/>
                        </a:lnSpc>
                        <a:buNone/>
                      </a:pPr>
                      <a:r>
                        <a:rPr lang="en-IN" sz="2200">
                          <a:effectLst/>
                        </a:rPr>
                        <a:t>Accurate</a:t>
                      </a:r>
                      <a:endParaRPr lang="en-IN" sz="220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tc>
                  <a:txBody>
                    <a:bodyPr/>
                    <a:lstStyle/>
                    <a:p>
                      <a:pPr algn="ctr">
                        <a:lnSpc>
                          <a:spcPct val="150000"/>
                        </a:lnSpc>
                        <a:buNone/>
                      </a:pPr>
                      <a:r>
                        <a:rPr lang="en-IN" sz="2200">
                          <a:effectLst/>
                        </a:rPr>
                        <a:t>High computational cost</a:t>
                      </a:r>
                      <a:endParaRPr lang="en-IN" sz="220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extLst>
                  <a:ext uri="{0D108BD9-81ED-4DB2-BD59-A6C34878D82A}">
                    <a16:rowId xmlns:a16="http://schemas.microsoft.com/office/drawing/2014/main" val="2702947255"/>
                  </a:ext>
                </a:extLst>
              </a:tr>
              <a:tr h="141838">
                <a:tc>
                  <a:txBody>
                    <a:bodyPr/>
                    <a:lstStyle/>
                    <a:p>
                      <a:pPr algn="ctr">
                        <a:lnSpc>
                          <a:spcPct val="150000"/>
                        </a:lnSpc>
                        <a:buNone/>
                      </a:pPr>
                      <a:r>
                        <a:rPr lang="en-IN" sz="2200">
                          <a:effectLst/>
                        </a:rPr>
                        <a:t>Dynamic Analysis</a:t>
                      </a:r>
                      <a:endParaRPr lang="en-IN" sz="220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tc>
                  <a:txBody>
                    <a:bodyPr/>
                    <a:lstStyle/>
                    <a:p>
                      <a:pPr algn="ctr">
                        <a:lnSpc>
                          <a:spcPct val="150000"/>
                        </a:lnSpc>
                        <a:buNone/>
                      </a:pPr>
                      <a:r>
                        <a:rPr lang="en-IN" sz="2200">
                          <a:effectLst/>
                        </a:rPr>
                        <a:t>Runtime behaviour detection</a:t>
                      </a:r>
                      <a:endParaRPr lang="en-IN" sz="220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tc>
                  <a:txBody>
                    <a:bodyPr/>
                    <a:lstStyle/>
                    <a:p>
                      <a:pPr algn="ctr">
                        <a:lnSpc>
                          <a:spcPct val="150000"/>
                        </a:lnSpc>
                        <a:buNone/>
                      </a:pPr>
                      <a:r>
                        <a:rPr lang="en-IN" sz="2200">
                          <a:effectLst/>
                        </a:rPr>
                        <a:t>Time-consuming</a:t>
                      </a:r>
                      <a:endParaRPr lang="en-IN" sz="220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extLst>
                  <a:ext uri="{0D108BD9-81ED-4DB2-BD59-A6C34878D82A}">
                    <a16:rowId xmlns:a16="http://schemas.microsoft.com/office/drawing/2014/main" val="2071057802"/>
                  </a:ext>
                </a:extLst>
              </a:tr>
              <a:tr h="141838">
                <a:tc>
                  <a:txBody>
                    <a:bodyPr/>
                    <a:lstStyle/>
                    <a:p>
                      <a:pPr algn="ctr">
                        <a:lnSpc>
                          <a:spcPct val="150000"/>
                        </a:lnSpc>
                        <a:buNone/>
                      </a:pPr>
                      <a:r>
                        <a:rPr lang="en-IN" sz="2200">
                          <a:effectLst/>
                        </a:rPr>
                        <a:t>Metadata Analysis</a:t>
                      </a:r>
                      <a:endParaRPr lang="en-IN" sz="220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tc>
                  <a:txBody>
                    <a:bodyPr/>
                    <a:lstStyle/>
                    <a:p>
                      <a:pPr algn="ctr">
                        <a:lnSpc>
                          <a:spcPct val="150000"/>
                        </a:lnSpc>
                        <a:buNone/>
                      </a:pPr>
                      <a:r>
                        <a:rPr lang="en-IN" sz="2200">
                          <a:effectLst/>
                        </a:rPr>
                        <a:t>Lightweight</a:t>
                      </a:r>
                      <a:endParaRPr lang="en-IN" sz="220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tc>
                  <a:txBody>
                    <a:bodyPr/>
                    <a:lstStyle/>
                    <a:p>
                      <a:pPr algn="ctr">
                        <a:lnSpc>
                          <a:spcPct val="150000"/>
                        </a:lnSpc>
                        <a:buNone/>
                      </a:pPr>
                      <a:r>
                        <a:rPr lang="en-IN" sz="2200">
                          <a:effectLst/>
                        </a:rPr>
                        <a:t>Limited behavioural information</a:t>
                      </a:r>
                      <a:endParaRPr lang="en-IN" sz="220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extLst>
                  <a:ext uri="{0D108BD9-81ED-4DB2-BD59-A6C34878D82A}">
                    <a16:rowId xmlns:a16="http://schemas.microsoft.com/office/drawing/2014/main" val="3391515098"/>
                  </a:ext>
                </a:extLst>
              </a:tr>
              <a:tr h="141838">
                <a:tc>
                  <a:txBody>
                    <a:bodyPr/>
                    <a:lstStyle/>
                    <a:p>
                      <a:pPr algn="ctr">
                        <a:lnSpc>
                          <a:spcPct val="150000"/>
                        </a:lnSpc>
                        <a:buNone/>
                      </a:pPr>
                      <a:r>
                        <a:rPr lang="en-IN" sz="2200">
                          <a:effectLst/>
                        </a:rPr>
                        <a:t>Machine Learning</a:t>
                      </a:r>
                      <a:endParaRPr lang="en-IN" sz="220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tc>
                  <a:txBody>
                    <a:bodyPr/>
                    <a:lstStyle/>
                    <a:p>
                      <a:pPr algn="ctr">
                        <a:lnSpc>
                          <a:spcPct val="150000"/>
                        </a:lnSpc>
                        <a:buNone/>
                      </a:pPr>
                      <a:r>
                        <a:rPr lang="en-IN" sz="2200" dirty="0">
                          <a:effectLst/>
                        </a:rPr>
                        <a:t>Early prediction</a:t>
                      </a:r>
                      <a:endParaRPr lang="en-IN" sz="22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tc>
                  <a:txBody>
                    <a:bodyPr/>
                    <a:lstStyle/>
                    <a:p>
                      <a:pPr algn="ctr">
                        <a:lnSpc>
                          <a:spcPct val="150000"/>
                        </a:lnSpc>
                        <a:buNone/>
                      </a:pPr>
                      <a:r>
                        <a:rPr lang="en-IN" sz="2200" dirty="0">
                          <a:effectLst/>
                        </a:rPr>
                        <a:t>Requires quality datasets</a:t>
                      </a:r>
                      <a:endParaRPr lang="en-IN" sz="22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endParaRPr>
                    </a:p>
                  </a:txBody>
                  <a:tcPr marL="40450" marR="40450" marT="0" marB="0"/>
                </a:tc>
                <a:extLst>
                  <a:ext uri="{0D108BD9-81ED-4DB2-BD59-A6C34878D82A}">
                    <a16:rowId xmlns:a16="http://schemas.microsoft.com/office/drawing/2014/main" val="2499341867"/>
                  </a:ext>
                </a:extLst>
              </a:tr>
            </a:tbl>
          </a:graphicData>
        </a:graphic>
      </p:graphicFrame>
      <p:sp>
        <p:nvSpPr>
          <p:cNvPr id="7" name="TextBox 6">
            <a:extLst>
              <a:ext uri="{FF2B5EF4-FFF2-40B4-BE49-F238E27FC236}">
                <a16:creationId xmlns:a16="http://schemas.microsoft.com/office/drawing/2014/main" id="{C921E962-FDEA-CA5E-695C-7DE245D6A6F1}"/>
              </a:ext>
            </a:extLst>
          </p:cNvPr>
          <p:cNvSpPr txBox="1"/>
          <p:nvPr/>
        </p:nvSpPr>
        <p:spPr>
          <a:xfrm>
            <a:off x="829340" y="691116"/>
            <a:ext cx="6315739" cy="461665"/>
          </a:xfrm>
          <a:prstGeom prst="rect">
            <a:avLst/>
          </a:prstGeom>
          <a:noFill/>
        </p:spPr>
        <p:txBody>
          <a:bodyPr wrap="square" rtlCol="0">
            <a:spAutoFit/>
          </a:bodyPr>
          <a:lstStyle/>
          <a:p>
            <a:r>
              <a:rPr lang="en-IN" sz="2400" b="1" dirty="0"/>
              <a:t>Existing Detection Techniques</a:t>
            </a:r>
            <a:endParaRPr lang="en-GB" sz="2400" b="1" dirty="0"/>
          </a:p>
        </p:txBody>
      </p:sp>
      <p:sp>
        <p:nvSpPr>
          <p:cNvPr id="8" name="TextBox 7">
            <a:extLst>
              <a:ext uri="{FF2B5EF4-FFF2-40B4-BE49-F238E27FC236}">
                <a16:creationId xmlns:a16="http://schemas.microsoft.com/office/drawing/2014/main" id="{2F1ABE84-9E23-21EA-6AF5-D76138233C4A}"/>
              </a:ext>
            </a:extLst>
          </p:cNvPr>
          <p:cNvSpPr txBox="1"/>
          <p:nvPr/>
        </p:nvSpPr>
        <p:spPr>
          <a:xfrm>
            <a:off x="829340" y="3593805"/>
            <a:ext cx="10494334" cy="2308324"/>
          </a:xfrm>
          <a:prstGeom prst="rect">
            <a:avLst/>
          </a:prstGeom>
          <a:noFill/>
        </p:spPr>
        <p:txBody>
          <a:bodyPr wrap="square" rtlCol="0">
            <a:spAutoFit/>
          </a:bodyPr>
          <a:lstStyle/>
          <a:p>
            <a:r>
              <a:rPr lang="en-IN" sz="2400" b="1" dirty="0"/>
              <a:t>Research Gap</a:t>
            </a:r>
          </a:p>
          <a:p>
            <a:pPr marL="342900" indent="-342900">
              <a:buFont typeface="Arial" panose="020B0604020202020204" pitchFamily="34" charset="0"/>
              <a:buChar char="•"/>
            </a:pPr>
            <a:r>
              <a:rPr lang="en-IN" sz="2400" dirty="0"/>
              <a:t>Limited research focuses on metadata-only detection. </a:t>
            </a:r>
          </a:p>
          <a:p>
            <a:pPr marL="342900" indent="-342900">
              <a:buFont typeface="Arial" panose="020B0604020202020204" pitchFamily="34" charset="0"/>
              <a:buChar char="•"/>
            </a:pPr>
            <a:r>
              <a:rPr lang="en-IN" sz="2400" dirty="0"/>
              <a:t>Few frameworks detect dependency confusion before installation. </a:t>
            </a:r>
          </a:p>
          <a:p>
            <a:pPr marL="342900" indent="-342900">
              <a:buFont typeface="Arial" panose="020B0604020202020204" pitchFamily="34" charset="0"/>
              <a:buChar char="•"/>
            </a:pPr>
            <a:r>
              <a:rPr lang="en-IN" sz="2400" dirty="0"/>
              <a:t>Need for lightweight and scalable solutions. </a:t>
            </a:r>
          </a:p>
          <a:p>
            <a:r>
              <a:rPr lang="en-IN" sz="2400" b="1" dirty="0"/>
              <a:t>Key Takeaway</a:t>
            </a:r>
          </a:p>
          <a:p>
            <a:r>
              <a:rPr lang="en-IN" sz="2400" dirty="0"/>
              <a:t>Metadata-driven ML provides an efficient pre-installation detection approach.</a:t>
            </a:r>
          </a:p>
        </p:txBody>
      </p:sp>
    </p:spTree>
    <p:extLst>
      <p:ext uri="{BB962C8B-B14F-4D97-AF65-F5344CB8AC3E}">
        <p14:creationId xmlns:p14="http://schemas.microsoft.com/office/powerpoint/2010/main" val="3944228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IN" dirty="0"/>
              <a:t>Research Methodology</a:t>
            </a:r>
            <a:endParaRPr lang="en-MA" dirty="0"/>
          </a:p>
        </p:txBody>
      </p:sp>
      <p:sp>
        <p:nvSpPr>
          <p:cNvPr id="3" name="Content Placeholder 2">
            <a:extLst>
              <a:ext uri="{FF2B5EF4-FFF2-40B4-BE49-F238E27FC236}">
                <a16:creationId xmlns:a16="http://schemas.microsoft.com/office/drawing/2014/main" id="{486602FF-00EB-DC2D-26EC-24DDBEAD09AA}"/>
              </a:ext>
            </a:extLst>
          </p:cNvPr>
          <p:cNvSpPr>
            <a:spLocks noGrp="1"/>
          </p:cNvSpPr>
          <p:nvPr>
            <p:ph sz="half" idx="1"/>
          </p:nvPr>
        </p:nvSpPr>
        <p:spPr>
          <a:xfrm>
            <a:off x="814689" y="919717"/>
            <a:ext cx="6319757" cy="5165400"/>
          </a:xfrm>
        </p:spPr>
        <p:txBody>
          <a:bodyPr vert="horz" lIns="91440" tIns="0" rIns="91440" bIns="0" rtlCol="0" anchor="t">
            <a:normAutofit/>
          </a:bodyPr>
          <a:lstStyle/>
          <a:p>
            <a:r>
              <a:rPr lang="en-IN" b="1" dirty="0"/>
              <a:t>Research Approach</a:t>
            </a:r>
          </a:p>
          <a:p>
            <a:pPr>
              <a:buFont typeface="Courier New" panose="02070309020205020404" pitchFamily="49" charset="0"/>
              <a:buChar char="o"/>
            </a:pPr>
            <a:r>
              <a:rPr lang="en-IN" sz="2000" dirty="0"/>
              <a:t>Quantitative experimental research </a:t>
            </a:r>
          </a:p>
          <a:p>
            <a:pPr>
              <a:buFont typeface="Courier New" panose="02070309020205020404" pitchFamily="49" charset="0"/>
              <a:buChar char="o"/>
            </a:pPr>
            <a:r>
              <a:rPr lang="en-IN" sz="2000" dirty="0"/>
              <a:t>Metadata collection using </a:t>
            </a:r>
            <a:r>
              <a:rPr lang="en-IN" sz="2000" dirty="0" err="1"/>
              <a:t>PyPI</a:t>
            </a:r>
            <a:r>
              <a:rPr lang="en-IN" sz="2000" dirty="0"/>
              <a:t> API </a:t>
            </a:r>
          </a:p>
          <a:p>
            <a:pPr>
              <a:buFont typeface="Courier New" panose="02070309020205020404" pitchFamily="49" charset="0"/>
              <a:buChar char="o"/>
            </a:pPr>
            <a:r>
              <a:rPr lang="en-IN" sz="2000" dirty="0"/>
              <a:t>Synthetic </a:t>
            </a:r>
            <a:r>
              <a:rPr lang="en-IN" sz="2000" dirty="0" err="1"/>
              <a:t>typosquatting</a:t>
            </a:r>
            <a:r>
              <a:rPr lang="en-IN" sz="2000" dirty="0"/>
              <a:t> generation </a:t>
            </a:r>
          </a:p>
          <a:p>
            <a:pPr>
              <a:buFont typeface="Courier New" panose="02070309020205020404" pitchFamily="49" charset="0"/>
              <a:buChar char="o"/>
            </a:pPr>
            <a:r>
              <a:rPr lang="en-IN" sz="2000" dirty="0"/>
              <a:t>External validation using </a:t>
            </a:r>
            <a:r>
              <a:rPr lang="en-IN" sz="2000" dirty="0" err="1"/>
              <a:t>OpenSSF</a:t>
            </a:r>
            <a:endParaRPr lang="en-IN" sz="2000" dirty="0"/>
          </a:p>
          <a:p>
            <a:pPr marL="0" indent="0">
              <a:buNone/>
            </a:pPr>
            <a:endParaRPr lang="en-IN" sz="2000" dirty="0"/>
          </a:p>
          <a:p>
            <a:r>
              <a:rPr lang="en-IN" sz="2000" b="1" dirty="0"/>
              <a:t>Tools</a:t>
            </a:r>
          </a:p>
          <a:p>
            <a:pPr>
              <a:buFont typeface="Courier New" panose="02070309020205020404" pitchFamily="49" charset="0"/>
              <a:buChar char="o"/>
            </a:pPr>
            <a:r>
              <a:rPr lang="en-IN" sz="2000" dirty="0"/>
              <a:t>Python </a:t>
            </a:r>
          </a:p>
          <a:p>
            <a:pPr>
              <a:buFont typeface="Courier New" panose="02070309020205020404" pitchFamily="49" charset="0"/>
              <a:buChar char="o"/>
            </a:pPr>
            <a:r>
              <a:rPr lang="en-IN" sz="2000" dirty="0" err="1"/>
              <a:t>RapidFuzz</a:t>
            </a:r>
            <a:r>
              <a:rPr lang="en-IN" sz="2000" dirty="0"/>
              <a:t> </a:t>
            </a:r>
          </a:p>
          <a:p>
            <a:pPr>
              <a:buFont typeface="Courier New" panose="02070309020205020404" pitchFamily="49" charset="0"/>
              <a:buChar char="o"/>
            </a:pPr>
            <a:r>
              <a:rPr lang="en-IN" sz="2000" dirty="0"/>
              <a:t>Scikit-learn </a:t>
            </a:r>
          </a:p>
          <a:p>
            <a:pPr>
              <a:buFont typeface="Courier New" panose="02070309020205020404" pitchFamily="49" charset="0"/>
              <a:buChar char="o"/>
            </a:pPr>
            <a:r>
              <a:rPr lang="en-IN" sz="2000" dirty="0" err="1"/>
              <a:t>Streamlit</a:t>
            </a:r>
            <a:endParaRPr lang="en-IN" sz="2000" dirty="0"/>
          </a:p>
          <a:p>
            <a:pPr marL="0" indent="0">
              <a:buNone/>
            </a:pPr>
            <a:endParaRPr lang="en-IN" sz="2000" dirty="0"/>
          </a:p>
        </p:txBody>
      </p:sp>
      <p:pic>
        <p:nvPicPr>
          <p:cNvPr id="4" name="Picture 3">
            <a:extLst>
              <a:ext uri="{FF2B5EF4-FFF2-40B4-BE49-F238E27FC236}">
                <a16:creationId xmlns:a16="http://schemas.microsoft.com/office/drawing/2014/main" id="{64AD7BBA-B408-44FF-ECEA-8210A7ED21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2217" y="772883"/>
            <a:ext cx="6565132" cy="5652473"/>
          </a:xfrm>
          <a:prstGeom prst="rect">
            <a:avLst/>
          </a:prstGeom>
        </p:spPr>
      </p:pic>
    </p:spTree>
    <p:extLst>
      <p:ext uri="{BB962C8B-B14F-4D97-AF65-F5344CB8AC3E}">
        <p14:creationId xmlns:p14="http://schemas.microsoft.com/office/powerpoint/2010/main" val="311493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IN" dirty="0"/>
              <a:t>Proposed System Architecture</a:t>
            </a:r>
            <a:endParaRPr lang="en-MA" dirty="0"/>
          </a:p>
        </p:txBody>
      </p:sp>
      <p:sp>
        <p:nvSpPr>
          <p:cNvPr id="3" name="Content Placeholder 2">
            <a:extLst>
              <a:ext uri="{FF2B5EF4-FFF2-40B4-BE49-F238E27FC236}">
                <a16:creationId xmlns:a16="http://schemas.microsoft.com/office/drawing/2014/main" id="{486602FF-00EB-DC2D-26EC-24DDBEAD09AA}"/>
              </a:ext>
            </a:extLst>
          </p:cNvPr>
          <p:cNvSpPr>
            <a:spLocks noGrp="1"/>
          </p:cNvSpPr>
          <p:nvPr>
            <p:ph sz="half" idx="1"/>
          </p:nvPr>
        </p:nvSpPr>
        <p:spPr>
          <a:xfrm>
            <a:off x="198000" y="767567"/>
            <a:ext cx="7287321" cy="5611968"/>
          </a:xfrm>
        </p:spPr>
        <p:txBody>
          <a:bodyPr vert="horz" lIns="91440" tIns="0" rIns="91440" bIns="0" rtlCol="0" anchor="t">
            <a:normAutofit fontScale="55000" lnSpcReduction="20000"/>
          </a:bodyPr>
          <a:lstStyle/>
          <a:p>
            <a:pPr>
              <a:lnSpc>
                <a:spcPct val="120000"/>
              </a:lnSpc>
            </a:pPr>
            <a:r>
              <a:rPr lang="en-IN" b="1" dirty="0"/>
              <a:t>Framework Components</a:t>
            </a:r>
          </a:p>
          <a:p>
            <a:pPr>
              <a:lnSpc>
                <a:spcPct val="120000"/>
              </a:lnSpc>
              <a:buFont typeface="Arial" panose="020B0604020202020204" pitchFamily="34" charset="0"/>
              <a:buChar char="•"/>
            </a:pPr>
            <a:r>
              <a:rPr lang="en-IN" dirty="0"/>
              <a:t>Data Collection Layer </a:t>
            </a:r>
          </a:p>
          <a:p>
            <a:pPr>
              <a:lnSpc>
                <a:spcPct val="120000"/>
              </a:lnSpc>
              <a:buFont typeface="Arial" panose="020B0604020202020204" pitchFamily="34" charset="0"/>
              <a:buChar char="•"/>
            </a:pPr>
            <a:r>
              <a:rPr lang="en-IN" dirty="0"/>
              <a:t>Dataset Construction Layer </a:t>
            </a:r>
          </a:p>
          <a:p>
            <a:pPr>
              <a:lnSpc>
                <a:spcPct val="120000"/>
              </a:lnSpc>
              <a:buFont typeface="Arial" panose="020B0604020202020204" pitchFamily="34" charset="0"/>
              <a:buChar char="•"/>
            </a:pPr>
            <a:r>
              <a:rPr lang="en-IN" dirty="0"/>
              <a:t>Feature Engineering Layer </a:t>
            </a:r>
          </a:p>
          <a:p>
            <a:pPr>
              <a:lnSpc>
                <a:spcPct val="120000"/>
              </a:lnSpc>
              <a:buFont typeface="Arial" panose="020B0604020202020204" pitchFamily="34" charset="0"/>
              <a:buChar char="•"/>
            </a:pPr>
            <a:r>
              <a:rPr lang="en-IN" dirty="0"/>
              <a:t>Machine Learning Layer </a:t>
            </a:r>
          </a:p>
          <a:p>
            <a:pPr>
              <a:lnSpc>
                <a:spcPct val="120000"/>
              </a:lnSpc>
              <a:buFont typeface="Arial" panose="020B0604020202020204" pitchFamily="34" charset="0"/>
              <a:buChar char="•"/>
            </a:pPr>
            <a:r>
              <a:rPr lang="en-IN" dirty="0"/>
              <a:t>External Validation Layer </a:t>
            </a:r>
          </a:p>
          <a:p>
            <a:pPr>
              <a:lnSpc>
                <a:spcPct val="120000"/>
              </a:lnSpc>
              <a:buFont typeface="Arial" panose="020B0604020202020204" pitchFamily="34" charset="0"/>
              <a:buChar char="•"/>
            </a:pPr>
            <a:r>
              <a:rPr lang="en-IN" dirty="0" err="1"/>
              <a:t>Streamlit</a:t>
            </a:r>
            <a:r>
              <a:rPr lang="en-IN" dirty="0"/>
              <a:t> Presentation Layer </a:t>
            </a:r>
          </a:p>
          <a:p>
            <a:pPr>
              <a:lnSpc>
                <a:spcPct val="120000"/>
              </a:lnSpc>
            </a:pPr>
            <a:r>
              <a:rPr lang="en-IN" b="1" dirty="0"/>
              <a:t>Why this Architecture?</a:t>
            </a:r>
          </a:p>
          <a:p>
            <a:pPr>
              <a:lnSpc>
                <a:spcPct val="120000"/>
              </a:lnSpc>
              <a:buFont typeface="Arial" panose="020B0604020202020204" pitchFamily="34" charset="0"/>
              <a:buChar char="•"/>
            </a:pPr>
            <a:r>
              <a:rPr lang="en-IN" dirty="0"/>
              <a:t>Modular </a:t>
            </a:r>
          </a:p>
          <a:p>
            <a:pPr>
              <a:lnSpc>
                <a:spcPct val="120000"/>
              </a:lnSpc>
              <a:buFont typeface="Arial" panose="020B0604020202020204" pitchFamily="34" charset="0"/>
              <a:buChar char="•"/>
            </a:pPr>
            <a:r>
              <a:rPr lang="en-IN" dirty="0"/>
              <a:t>Scalable </a:t>
            </a:r>
          </a:p>
          <a:p>
            <a:pPr>
              <a:lnSpc>
                <a:spcPct val="120000"/>
              </a:lnSpc>
              <a:buFont typeface="Arial" panose="020B0604020202020204" pitchFamily="34" charset="0"/>
              <a:buChar char="•"/>
            </a:pPr>
            <a:r>
              <a:rPr lang="en-IN" dirty="0"/>
              <a:t>Lightweight </a:t>
            </a:r>
          </a:p>
          <a:p>
            <a:pPr>
              <a:lnSpc>
                <a:spcPct val="120000"/>
              </a:lnSpc>
              <a:buFont typeface="Arial" panose="020B0604020202020204" pitchFamily="34" charset="0"/>
              <a:buChar char="•"/>
            </a:pPr>
            <a:r>
              <a:rPr lang="en-IN" dirty="0"/>
              <a:t>Easy deployment </a:t>
            </a:r>
          </a:p>
          <a:p>
            <a:pPr>
              <a:lnSpc>
                <a:spcPct val="120000"/>
              </a:lnSpc>
            </a:pPr>
            <a:r>
              <a:rPr lang="en-IN" b="1" dirty="0"/>
              <a:t>Key Takeaway</a:t>
            </a:r>
          </a:p>
          <a:p>
            <a:pPr marL="0" indent="0">
              <a:lnSpc>
                <a:spcPct val="120000"/>
              </a:lnSpc>
              <a:buNone/>
            </a:pPr>
            <a:r>
              <a:rPr lang="en-IN" dirty="0"/>
              <a:t>Layered architecture supports efficient pre-installation threat detection.</a:t>
            </a:r>
          </a:p>
        </p:txBody>
      </p:sp>
      <p:pic>
        <p:nvPicPr>
          <p:cNvPr id="4" name="Picture 3">
            <a:extLst>
              <a:ext uri="{FF2B5EF4-FFF2-40B4-BE49-F238E27FC236}">
                <a16:creationId xmlns:a16="http://schemas.microsoft.com/office/drawing/2014/main" id="{977373A2-7E17-1D71-5310-62FB3160D178}"/>
              </a:ext>
            </a:extLst>
          </p:cNvPr>
          <p:cNvPicPr>
            <a:picLocks noChangeAspect="1"/>
          </p:cNvPicPr>
          <p:nvPr/>
        </p:nvPicPr>
        <p:blipFill>
          <a:blip r:embed="rId3"/>
          <a:stretch>
            <a:fillRect/>
          </a:stretch>
        </p:blipFill>
        <p:spPr>
          <a:xfrm>
            <a:off x="7913000" y="574441"/>
            <a:ext cx="3937000" cy="5899150"/>
          </a:xfrm>
          <a:prstGeom prst="rect">
            <a:avLst/>
          </a:prstGeom>
          <a:noFill/>
          <a:ln>
            <a:noFill/>
          </a:ln>
        </p:spPr>
      </p:pic>
    </p:spTree>
    <p:extLst>
      <p:ext uri="{BB962C8B-B14F-4D97-AF65-F5344CB8AC3E}">
        <p14:creationId xmlns:p14="http://schemas.microsoft.com/office/powerpoint/2010/main" val="1942258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IN" dirty="0"/>
              <a:t>Machine Learning Models</a:t>
            </a:r>
            <a:endParaRPr lang="en-US" dirty="0"/>
          </a:p>
        </p:txBody>
      </p:sp>
      <p:sp>
        <p:nvSpPr>
          <p:cNvPr id="3" name="Content Placeholder 2">
            <a:extLst>
              <a:ext uri="{FF2B5EF4-FFF2-40B4-BE49-F238E27FC236}">
                <a16:creationId xmlns:a16="http://schemas.microsoft.com/office/drawing/2014/main" id="{486602FF-00EB-DC2D-26EC-24DDBEAD09AA}"/>
              </a:ext>
            </a:extLst>
          </p:cNvPr>
          <p:cNvSpPr>
            <a:spLocks noGrp="1"/>
          </p:cNvSpPr>
          <p:nvPr>
            <p:ph sz="half" idx="1"/>
          </p:nvPr>
        </p:nvSpPr>
        <p:spPr>
          <a:xfrm>
            <a:off x="942280" y="1097175"/>
            <a:ext cx="4001860" cy="4134044"/>
          </a:xfrm>
        </p:spPr>
        <p:txBody>
          <a:bodyPr vert="horz" lIns="91440" tIns="0" rIns="91440" bIns="0" rtlCol="0" anchor="t">
            <a:noAutofit/>
          </a:bodyPr>
          <a:lstStyle/>
          <a:p>
            <a:r>
              <a:rPr lang="en-IN" sz="2000" b="1" dirty="0"/>
              <a:t>Models Evaluated</a:t>
            </a:r>
          </a:p>
          <a:p>
            <a:r>
              <a:rPr lang="en-IN" sz="2000" b="1" dirty="0"/>
              <a:t>Logistic Regression</a:t>
            </a:r>
          </a:p>
          <a:p>
            <a:pPr>
              <a:buFont typeface="Arial" panose="020B0604020202020204" pitchFamily="34" charset="0"/>
              <a:buChar char="•"/>
            </a:pPr>
            <a:r>
              <a:rPr lang="en-IN" sz="2000" dirty="0"/>
              <a:t>Baseline classifier </a:t>
            </a:r>
          </a:p>
          <a:p>
            <a:pPr>
              <a:buFont typeface="Arial" panose="020B0604020202020204" pitchFamily="34" charset="0"/>
              <a:buChar char="•"/>
            </a:pPr>
            <a:r>
              <a:rPr lang="en-IN" sz="2000" dirty="0"/>
              <a:t>Simple and interpretable </a:t>
            </a:r>
          </a:p>
          <a:p>
            <a:r>
              <a:rPr lang="en-IN" sz="2000" b="1" dirty="0"/>
              <a:t>Decision Tree</a:t>
            </a:r>
          </a:p>
          <a:p>
            <a:pPr>
              <a:buFont typeface="Arial" panose="020B0604020202020204" pitchFamily="34" charset="0"/>
              <a:buChar char="•"/>
            </a:pPr>
            <a:r>
              <a:rPr lang="en-IN" sz="2000" dirty="0"/>
              <a:t>Captures non-linear relationships </a:t>
            </a:r>
          </a:p>
          <a:p>
            <a:pPr>
              <a:buFont typeface="Arial" panose="020B0604020202020204" pitchFamily="34" charset="0"/>
              <a:buChar char="•"/>
            </a:pPr>
            <a:r>
              <a:rPr lang="en-IN" sz="2000" dirty="0"/>
              <a:t>Highest overall performance </a:t>
            </a:r>
          </a:p>
          <a:p>
            <a:r>
              <a:rPr lang="en-IN" sz="2000" b="1" dirty="0"/>
              <a:t>Random Forest</a:t>
            </a:r>
          </a:p>
          <a:p>
            <a:pPr>
              <a:buFont typeface="Arial" panose="020B0604020202020204" pitchFamily="34" charset="0"/>
              <a:buChar char="•"/>
            </a:pPr>
            <a:r>
              <a:rPr lang="en-IN" sz="2000" dirty="0"/>
              <a:t>Ensemble classifier </a:t>
            </a:r>
          </a:p>
          <a:p>
            <a:pPr>
              <a:buFont typeface="Arial" panose="020B0604020202020204" pitchFamily="34" charset="0"/>
              <a:buChar char="•"/>
            </a:pPr>
            <a:r>
              <a:rPr lang="en-IN" sz="2000" dirty="0"/>
              <a:t>Robust comparison model </a:t>
            </a:r>
          </a:p>
          <a:p>
            <a:endParaRPr lang="en-IN" sz="2000" dirty="0"/>
          </a:p>
        </p:txBody>
      </p:sp>
      <p:sp>
        <p:nvSpPr>
          <p:cNvPr id="5" name="TextBox 4">
            <a:extLst>
              <a:ext uri="{FF2B5EF4-FFF2-40B4-BE49-F238E27FC236}">
                <a16:creationId xmlns:a16="http://schemas.microsoft.com/office/drawing/2014/main" id="{AF682FA8-F8B5-B32A-B83A-92E3654B0A4C}"/>
              </a:ext>
            </a:extLst>
          </p:cNvPr>
          <p:cNvSpPr txBox="1"/>
          <p:nvPr/>
        </p:nvSpPr>
        <p:spPr>
          <a:xfrm>
            <a:off x="6390167" y="1201479"/>
            <a:ext cx="4497573" cy="2862322"/>
          </a:xfrm>
          <a:prstGeom prst="rect">
            <a:avLst/>
          </a:prstGeom>
          <a:noFill/>
        </p:spPr>
        <p:txBody>
          <a:bodyPr wrap="square" rtlCol="0">
            <a:spAutoFit/>
          </a:bodyPr>
          <a:lstStyle/>
          <a:p>
            <a:r>
              <a:rPr lang="en-IN" sz="2000" b="1" dirty="0"/>
              <a:t>Evaluation Metrics</a:t>
            </a:r>
          </a:p>
          <a:p>
            <a:pPr marL="342900" indent="-342900">
              <a:buFont typeface="Arial" panose="020B0604020202020204" pitchFamily="34" charset="0"/>
              <a:buChar char="•"/>
            </a:pPr>
            <a:r>
              <a:rPr lang="en-IN" sz="2000" dirty="0"/>
              <a:t>Accuracy </a:t>
            </a:r>
          </a:p>
          <a:p>
            <a:pPr marL="342900" indent="-342900">
              <a:buFont typeface="Arial" panose="020B0604020202020204" pitchFamily="34" charset="0"/>
              <a:buChar char="•"/>
            </a:pPr>
            <a:r>
              <a:rPr lang="en-IN" sz="2000" dirty="0"/>
              <a:t>Precision </a:t>
            </a:r>
          </a:p>
          <a:p>
            <a:pPr marL="342900" indent="-342900">
              <a:buFont typeface="Arial" panose="020B0604020202020204" pitchFamily="34" charset="0"/>
              <a:buChar char="•"/>
            </a:pPr>
            <a:r>
              <a:rPr lang="en-IN" sz="2000" dirty="0"/>
              <a:t>Recall </a:t>
            </a:r>
          </a:p>
          <a:p>
            <a:pPr marL="342900" indent="-342900">
              <a:buFont typeface="Arial" panose="020B0604020202020204" pitchFamily="34" charset="0"/>
              <a:buChar char="•"/>
            </a:pPr>
            <a:r>
              <a:rPr lang="en-IN" sz="2000" dirty="0"/>
              <a:t>F1-score </a:t>
            </a:r>
          </a:p>
          <a:p>
            <a:pPr marL="342900" indent="-342900">
              <a:buFont typeface="Arial" panose="020B0604020202020204" pitchFamily="34" charset="0"/>
              <a:buChar char="•"/>
            </a:pPr>
            <a:r>
              <a:rPr lang="en-IN" sz="2000" dirty="0"/>
              <a:t>ROC Curve </a:t>
            </a:r>
          </a:p>
          <a:p>
            <a:r>
              <a:rPr lang="en-IN" sz="2000" b="1" dirty="0"/>
              <a:t>Key Message</a:t>
            </a:r>
          </a:p>
          <a:p>
            <a:r>
              <a:rPr lang="en-IN" sz="2000" dirty="0"/>
              <a:t>Decision Tree was selected as the final prediction model.</a:t>
            </a:r>
            <a:endParaRPr lang="en-GB" sz="2000" dirty="0"/>
          </a:p>
        </p:txBody>
      </p:sp>
    </p:spTree>
    <p:extLst>
      <p:ext uri="{BB962C8B-B14F-4D97-AF65-F5344CB8AC3E}">
        <p14:creationId xmlns:p14="http://schemas.microsoft.com/office/powerpoint/2010/main" val="25517015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C1EF8-0CEB-5929-D0EA-90EB0AE5D6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7874C4-8F63-2E6E-4F9F-704359AEE77F}"/>
              </a:ext>
            </a:extLst>
          </p:cNvPr>
          <p:cNvSpPr>
            <a:spLocks noGrp="1"/>
          </p:cNvSpPr>
          <p:nvPr>
            <p:ph type="title"/>
          </p:nvPr>
        </p:nvSpPr>
        <p:spPr/>
        <p:txBody>
          <a:bodyPr>
            <a:normAutofit fontScale="90000"/>
          </a:bodyPr>
          <a:lstStyle/>
          <a:p>
            <a:r>
              <a:rPr lang="en-IN" dirty="0"/>
              <a:t>Dataset &amp; Feature Engineering</a:t>
            </a:r>
            <a:endParaRPr lang="en-US" dirty="0"/>
          </a:p>
        </p:txBody>
      </p:sp>
      <p:sp>
        <p:nvSpPr>
          <p:cNvPr id="3" name="Content Placeholder 2">
            <a:extLst>
              <a:ext uri="{FF2B5EF4-FFF2-40B4-BE49-F238E27FC236}">
                <a16:creationId xmlns:a16="http://schemas.microsoft.com/office/drawing/2014/main" id="{C99C028D-18A4-C208-EA8B-01CDE7A95CB9}"/>
              </a:ext>
            </a:extLst>
          </p:cNvPr>
          <p:cNvSpPr>
            <a:spLocks noGrp="1"/>
          </p:cNvSpPr>
          <p:nvPr>
            <p:ph sz="half" idx="1"/>
          </p:nvPr>
        </p:nvSpPr>
        <p:spPr>
          <a:xfrm>
            <a:off x="198001" y="767566"/>
            <a:ext cx="6394186" cy="5494085"/>
          </a:xfrm>
        </p:spPr>
        <p:txBody>
          <a:bodyPr vert="horz" lIns="91440" tIns="0" rIns="91440" bIns="0" rtlCol="0" anchor="t">
            <a:noAutofit/>
          </a:bodyPr>
          <a:lstStyle/>
          <a:p>
            <a:pPr>
              <a:lnSpc>
                <a:spcPct val="120000"/>
              </a:lnSpc>
            </a:pPr>
            <a:r>
              <a:rPr lang="en-IN" sz="1400" b="1" dirty="0"/>
              <a:t>Dataset Construction</a:t>
            </a:r>
          </a:p>
          <a:p>
            <a:pPr lvl="1">
              <a:lnSpc>
                <a:spcPct val="120000"/>
              </a:lnSpc>
              <a:buFont typeface="Arial" panose="020B0604020202020204" pitchFamily="34" charset="0"/>
              <a:buChar char="•"/>
            </a:pPr>
            <a:r>
              <a:rPr lang="en-IN" sz="1400" dirty="0"/>
              <a:t>Training Dataset</a:t>
            </a:r>
          </a:p>
          <a:p>
            <a:pPr lvl="1">
              <a:lnSpc>
                <a:spcPct val="120000"/>
              </a:lnSpc>
              <a:buFont typeface="Arial" panose="020B0604020202020204" pitchFamily="34" charset="0"/>
              <a:buChar char="•"/>
            </a:pPr>
            <a:r>
              <a:rPr lang="en-IN" sz="1400" dirty="0"/>
              <a:t>98 legitimate packages </a:t>
            </a:r>
          </a:p>
          <a:p>
            <a:pPr lvl="1">
              <a:lnSpc>
                <a:spcPct val="120000"/>
              </a:lnSpc>
              <a:buFont typeface="Arial" panose="020B0604020202020204" pitchFamily="34" charset="0"/>
              <a:buChar char="•"/>
            </a:pPr>
            <a:r>
              <a:rPr lang="en-IN" sz="1400" dirty="0"/>
              <a:t>704 suspicious packages </a:t>
            </a:r>
          </a:p>
          <a:p>
            <a:pPr lvl="1">
              <a:lnSpc>
                <a:spcPct val="120000"/>
              </a:lnSpc>
              <a:buFont typeface="Arial" panose="020B0604020202020204" pitchFamily="34" charset="0"/>
              <a:buChar char="•"/>
            </a:pPr>
            <a:r>
              <a:rPr lang="en-IN" sz="1400" dirty="0"/>
              <a:t>802 total records </a:t>
            </a:r>
          </a:p>
          <a:p>
            <a:pPr lvl="1">
              <a:lnSpc>
                <a:spcPct val="120000"/>
              </a:lnSpc>
              <a:buFont typeface="Arial" panose="020B0604020202020204" pitchFamily="34" charset="0"/>
              <a:buChar char="•"/>
            </a:pPr>
            <a:r>
              <a:rPr lang="en-IN" sz="1400" dirty="0"/>
              <a:t>External Validation</a:t>
            </a:r>
          </a:p>
          <a:p>
            <a:pPr lvl="1">
              <a:lnSpc>
                <a:spcPct val="120000"/>
              </a:lnSpc>
              <a:buFont typeface="Arial" panose="020B0604020202020204" pitchFamily="34" charset="0"/>
              <a:buChar char="•"/>
            </a:pPr>
            <a:r>
              <a:rPr lang="en-IN" sz="1400" dirty="0"/>
              <a:t>100 malicious packages from </a:t>
            </a:r>
            <a:r>
              <a:rPr lang="en-IN" sz="1400" dirty="0" err="1"/>
              <a:t>OpenSSF</a:t>
            </a:r>
            <a:r>
              <a:rPr lang="en-IN" sz="1400" dirty="0"/>
              <a:t> </a:t>
            </a:r>
          </a:p>
          <a:p>
            <a:pPr>
              <a:lnSpc>
                <a:spcPct val="120000"/>
              </a:lnSpc>
            </a:pPr>
            <a:r>
              <a:rPr lang="en-IN" sz="1400" b="1" dirty="0"/>
              <a:t>Engineered Features</a:t>
            </a:r>
          </a:p>
          <a:p>
            <a:pPr>
              <a:lnSpc>
                <a:spcPct val="120000"/>
              </a:lnSpc>
              <a:buFont typeface="Arial" panose="020B0604020202020204" pitchFamily="34" charset="0"/>
              <a:buChar char="•"/>
            </a:pPr>
            <a:r>
              <a:rPr lang="en-IN" sz="1400" dirty="0"/>
              <a:t>Similarity Score </a:t>
            </a:r>
          </a:p>
          <a:p>
            <a:pPr>
              <a:lnSpc>
                <a:spcPct val="120000"/>
              </a:lnSpc>
              <a:buFont typeface="Arial" panose="020B0604020202020204" pitchFamily="34" charset="0"/>
              <a:buChar char="•"/>
            </a:pPr>
            <a:r>
              <a:rPr lang="en-IN" sz="1400" dirty="0"/>
              <a:t>Name Length </a:t>
            </a:r>
          </a:p>
          <a:p>
            <a:pPr>
              <a:lnSpc>
                <a:spcPct val="120000"/>
              </a:lnSpc>
              <a:buFont typeface="Arial" panose="020B0604020202020204" pitchFamily="34" charset="0"/>
              <a:buChar char="•"/>
            </a:pPr>
            <a:r>
              <a:rPr lang="en-IN" sz="1400" dirty="0"/>
              <a:t>Summary Length </a:t>
            </a:r>
          </a:p>
          <a:p>
            <a:pPr>
              <a:lnSpc>
                <a:spcPct val="120000"/>
              </a:lnSpc>
              <a:buFont typeface="Arial" panose="020B0604020202020204" pitchFamily="34" charset="0"/>
              <a:buChar char="•"/>
            </a:pPr>
            <a:r>
              <a:rPr lang="en-IN" sz="1400" dirty="0"/>
              <a:t>Release Count </a:t>
            </a:r>
          </a:p>
          <a:p>
            <a:pPr>
              <a:lnSpc>
                <a:spcPct val="120000"/>
              </a:lnSpc>
              <a:buFont typeface="Arial" panose="020B0604020202020204" pitchFamily="34" charset="0"/>
              <a:buChar char="•"/>
            </a:pPr>
            <a:r>
              <a:rPr lang="en-IN" sz="1400" dirty="0"/>
              <a:t>Package Age </a:t>
            </a:r>
          </a:p>
          <a:p>
            <a:pPr>
              <a:lnSpc>
                <a:spcPct val="120000"/>
              </a:lnSpc>
            </a:pPr>
            <a:r>
              <a:rPr lang="en-IN" sz="1400" b="1" dirty="0"/>
              <a:t>Key Takeaway</a:t>
            </a:r>
          </a:p>
          <a:p>
            <a:pPr marL="0" indent="0">
              <a:lnSpc>
                <a:spcPct val="120000"/>
              </a:lnSpc>
              <a:buNone/>
            </a:pPr>
            <a:r>
              <a:rPr lang="en-IN" sz="1400" dirty="0"/>
              <a:t>Metadata features enable lightweight attack detection without executing code.</a:t>
            </a:r>
          </a:p>
        </p:txBody>
      </p:sp>
      <p:pic>
        <p:nvPicPr>
          <p:cNvPr id="4" name="Picture 3">
            <a:extLst>
              <a:ext uri="{FF2B5EF4-FFF2-40B4-BE49-F238E27FC236}">
                <a16:creationId xmlns:a16="http://schemas.microsoft.com/office/drawing/2014/main" id="{D6E86FD5-1B61-84D9-36F1-6176F2EEAD08}"/>
              </a:ext>
            </a:extLst>
          </p:cNvPr>
          <p:cNvPicPr>
            <a:picLocks noChangeAspect="1"/>
          </p:cNvPicPr>
          <p:nvPr/>
        </p:nvPicPr>
        <p:blipFill>
          <a:blip r:embed="rId3"/>
          <a:stretch>
            <a:fillRect/>
          </a:stretch>
        </p:blipFill>
        <p:spPr>
          <a:xfrm>
            <a:off x="6592187" y="934491"/>
            <a:ext cx="5178055" cy="5327618"/>
          </a:xfrm>
          <a:prstGeom prst="rect">
            <a:avLst/>
          </a:prstGeom>
          <a:noFill/>
          <a:ln>
            <a:noFill/>
          </a:ln>
        </p:spPr>
      </p:pic>
    </p:spTree>
    <p:extLst>
      <p:ext uri="{BB962C8B-B14F-4D97-AF65-F5344CB8AC3E}">
        <p14:creationId xmlns:p14="http://schemas.microsoft.com/office/powerpoint/2010/main" val="13863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70782-9C26-DB7B-9010-4EB242802E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324011-3198-0EBA-8CF9-71D132FF6F8B}"/>
              </a:ext>
            </a:extLst>
          </p:cNvPr>
          <p:cNvSpPr>
            <a:spLocks noGrp="1"/>
          </p:cNvSpPr>
          <p:nvPr>
            <p:ph type="title"/>
          </p:nvPr>
        </p:nvSpPr>
        <p:spPr/>
        <p:txBody>
          <a:bodyPr>
            <a:normAutofit fontScale="90000"/>
          </a:bodyPr>
          <a:lstStyle/>
          <a:p>
            <a:r>
              <a:rPr lang="en-IN" dirty="0"/>
              <a:t>Results</a:t>
            </a:r>
            <a:endParaRPr lang="en-US" dirty="0"/>
          </a:p>
        </p:txBody>
      </p:sp>
      <p:sp>
        <p:nvSpPr>
          <p:cNvPr id="3" name="Content Placeholder 2">
            <a:extLst>
              <a:ext uri="{FF2B5EF4-FFF2-40B4-BE49-F238E27FC236}">
                <a16:creationId xmlns:a16="http://schemas.microsoft.com/office/drawing/2014/main" id="{A1960FFE-7448-F3CC-3B08-81DFB36CF952}"/>
              </a:ext>
            </a:extLst>
          </p:cNvPr>
          <p:cNvSpPr>
            <a:spLocks noGrp="1"/>
          </p:cNvSpPr>
          <p:nvPr>
            <p:ph sz="half" idx="1"/>
          </p:nvPr>
        </p:nvSpPr>
        <p:spPr>
          <a:xfrm>
            <a:off x="1739722" y="788831"/>
            <a:ext cx="6394186" cy="5494085"/>
          </a:xfrm>
        </p:spPr>
        <p:txBody>
          <a:bodyPr vert="horz" lIns="91440" tIns="0" rIns="91440" bIns="0" rtlCol="0" anchor="t">
            <a:noAutofit/>
          </a:bodyPr>
          <a:lstStyle/>
          <a:p>
            <a:r>
              <a:rPr lang="en-IN" sz="2000" b="1" dirty="0"/>
              <a:t>Performance Evaluation</a:t>
            </a:r>
          </a:p>
          <a:p>
            <a:pPr>
              <a:buFont typeface="Arial" panose="020B0604020202020204" pitchFamily="34" charset="0"/>
              <a:buChar char="•"/>
            </a:pPr>
            <a:r>
              <a:rPr lang="en-IN" sz="2000" dirty="0"/>
              <a:t>Include</a:t>
            </a:r>
          </a:p>
          <a:p>
            <a:pPr>
              <a:buFont typeface="Arial" panose="020B0604020202020204" pitchFamily="34" charset="0"/>
              <a:buChar char="•"/>
            </a:pPr>
            <a:r>
              <a:rPr lang="en-IN" sz="2000" dirty="0"/>
              <a:t>Model Accuracy Chart </a:t>
            </a:r>
          </a:p>
          <a:p>
            <a:pPr>
              <a:buFont typeface="Arial" panose="020B0604020202020204" pitchFamily="34" charset="0"/>
              <a:buChar char="•"/>
            </a:pPr>
            <a:r>
              <a:rPr lang="en-IN" sz="2000" dirty="0"/>
              <a:t>ROC Curve </a:t>
            </a:r>
          </a:p>
          <a:p>
            <a:pPr>
              <a:buFont typeface="Arial" panose="020B0604020202020204" pitchFamily="34" charset="0"/>
              <a:buChar char="•"/>
            </a:pPr>
            <a:r>
              <a:rPr lang="en-IN" sz="2000" dirty="0"/>
              <a:t>Confusion Matrix </a:t>
            </a:r>
          </a:p>
          <a:p>
            <a:r>
              <a:rPr lang="en-IN" sz="2000" b="1" dirty="0"/>
              <a:t>Findings</a:t>
            </a:r>
          </a:p>
          <a:p>
            <a:pPr>
              <a:buFont typeface="Arial" panose="020B0604020202020204" pitchFamily="34" charset="0"/>
              <a:buChar char="•"/>
            </a:pPr>
            <a:r>
              <a:rPr lang="en-IN" sz="2000" dirty="0"/>
              <a:t>Decision Tree achieved the highest performance. </a:t>
            </a:r>
          </a:p>
          <a:p>
            <a:pPr>
              <a:buFont typeface="Arial" panose="020B0604020202020204" pitchFamily="34" charset="0"/>
              <a:buChar char="•"/>
            </a:pPr>
            <a:r>
              <a:rPr lang="en-IN" sz="2000" dirty="0"/>
              <a:t>Metadata features successfully distinguished suspicious packages. </a:t>
            </a:r>
          </a:p>
          <a:p>
            <a:pPr>
              <a:buFont typeface="Arial" panose="020B0604020202020204" pitchFamily="34" charset="0"/>
              <a:buChar char="•"/>
            </a:pPr>
            <a:r>
              <a:rPr lang="en-IN" sz="2000" dirty="0"/>
              <a:t>External validation confirmed model generalisation. </a:t>
            </a:r>
          </a:p>
          <a:p>
            <a:pPr>
              <a:buFont typeface="Arial" panose="020B0604020202020204" pitchFamily="34" charset="0"/>
              <a:buChar char="•"/>
            </a:pPr>
            <a:r>
              <a:rPr lang="en-IN" sz="2000" dirty="0"/>
              <a:t>Lightweight approach reduced computational overhead. </a:t>
            </a:r>
          </a:p>
          <a:p>
            <a:r>
              <a:rPr lang="en-IN" sz="2000" b="1" dirty="0"/>
              <a:t>Highlight</a:t>
            </a:r>
          </a:p>
          <a:p>
            <a:pPr>
              <a:buFont typeface="Arial" panose="020B0604020202020204" pitchFamily="34" charset="0"/>
              <a:buChar char="•"/>
            </a:pPr>
            <a:r>
              <a:rPr lang="en-IN" sz="2000" dirty="0"/>
              <a:t> Best Model: </a:t>
            </a:r>
            <a:r>
              <a:rPr lang="en-IN" sz="2000" b="1" dirty="0"/>
              <a:t>Decision Tree</a:t>
            </a:r>
            <a:endParaRPr lang="en-IN" sz="2000" dirty="0"/>
          </a:p>
        </p:txBody>
      </p:sp>
    </p:spTree>
    <p:extLst>
      <p:ext uri="{BB962C8B-B14F-4D97-AF65-F5344CB8AC3E}">
        <p14:creationId xmlns:p14="http://schemas.microsoft.com/office/powerpoint/2010/main" val="532312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F7081-ECCA-EF9E-6707-5380FD0BEC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E0EF6-AF13-9243-C75E-8E327A7D2203}"/>
              </a:ext>
            </a:extLst>
          </p:cNvPr>
          <p:cNvSpPr>
            <a:spLocks noGrp="1"/>
          </p:cNvSpPr>
          <p:nvPr>
            <p:ph type="title"/>
          </p:nvPr>
        </p:nvSpPr>
        <p:spPr/>
        <p:txBody>
          <a:bodyPr>
            <a:normAutofit fontScale="90000"/>
          </a:bodyPr>
          <a:lstStyle/>
          <a:p>
            <a:r>
              <a:rPr lang="en-IN" dirty="0" err="1"/>
              <a:t>Streamlit</a:t>
            </a:r>
            <a:r>
              <a:rPr lang="en-IN" dirty="0"/>
              <a:t> Dashboard</a:t>
            </a:r>
            <a:endParaRPr lang="en-US" dirty="0"/>
          </a:p>
        </p:txBody>
      </p:sp>
      <p:sp>
        <p:nvSpPr>
          <p:cNvPr id="3" name="Content Placeholder 2">
            <a:extLst>
              <a:ext uri="{FF2B5EF4-FFF2-40B4-BE49-F238E27FC236}">
                <a16:creationId xmlns:a16="http://schemas.microsoft.com/office/drawing/2014/main" id="{22587144-BFC9-3FFB-8717-FE79D95CAE20}"/>
              </a:ext>
            </a:extLst>
          </p:cNvPr>
          <p:cNvSpPr>
            <a:spLocks noGrp="1"/>
          </p:cNvSpPr>
          <p:nvPr>
            <p:ph sz="half" idx="1"/>
          </p:nvPr>
        </p:nvSpPr>
        <p:spPr>
          <a:xfrm>
            <a:off x="342000" y="948321"/>
            <a:ext cx="3326233" cy="2480680"/>
          </a:xfrm>
        </p:spPr>
        <p:txBody>
          <a:bodyPr vert="horz" lIns="91440" tIns="0" rIns="91440" bIns="0" rtlCol="0" anchor="t">
            <a:noAutofit/>
          </a:bodyPr>
          <a:lstStyle/>
          <a:p>
            <a:r>
              <a:rPr lang="en-IN" sz="2000" b="1" dirty="0"/>
              <a:t>Application Features</a:t>
            </a:r>
          </a:p>
          <a:p>
            <a:pPr>
              <a:buFont typeface="Arial" panose="020B0604020202020204" pitchFamily="34" charset="0"/>
              <a:buChar char="•"/>
            </a:pPr>
            <a:r>
              <a:rPr lang="en-IN" sz="2000" dirty="0"/>
              <a:t>Home Page </a:t>
            </a:r>
          </a:p>
          <a:p>
            <a:pPr>
              <a:buFont typeface="Arial" panose="020B0604020202020204" pitchFamily="34" charset="0"/>
              <a:buChar char="•"/>
            </a:pPr>
            <a:r>
              <a:rPr lang="en-IN" sz="2000" dirty="0"/>
              <a:t>Package Risk Prediction </a:t>
            </a:r>
          </a:p>
          <a:p>
            <a:pPr>
              <a:buFont typeface="Arial" panose="020B0604020202020204" pitchFamily="34" charset="0"/>
              <a:buChar char="•"/>
            </a:pPr>
            <a:r>
              <a:rPr lang="en-IN" sz="2000" dirty="0"/>
              <a:t>Dataset Analytics </a:t>
            </a:r>
          </a:p>
          <a:p>
            <a:pPr>
              <a:buFont typeface="Arial" panose="020B0604020202020204" pitchFamily="34" charset="0"/>
              <a:buChar char="•"/>
            </a:pPr>
            <a:r>
              <a:rPr lang="en-IN" sz="2000" dirty="0"/>
              <a:t>Model Comparison </a:t>
            </a:r>
          </a:p>
          <a:p>
            <a:pPr>
              <a:buFont typeface="Arial" panose="020B0604020202020204" pitchFamily="34" charset="0"/>
              <a:buChar char="•"/>
            </a:pPr>
            <a:r>
              <a:rPr lang="en-IN" sz="2000" dirty="0"/>
              <a:t>Feature Importance</a:t>
            </a:r>
          </a:p>
        </p:txBody>
      </p:sp>
      <p:pic>
        <p:nvPicPr>
          <p:cNvPr id="4" name="Picture 3">
            <a:extLst>
              <a:ext uri="{FF2B5EF4-FFF2-40B4-BE49-F238E27FC236}">
                <a16:creationId xmlns:a16="http://schemas.microsoft.com/office/drawing/2014/main" id="{EDDFE76D-FC5E-BE57-A02D-9AB28ED6B7CD}"/>
              </a:ext>
            </a:extLst>
          </p:cNvPr>
          <p:cNvPicPr>
            <a:picLocks noChangeAspect="1"/>
          </p:cNvPicPr>
          <p:nvPr/>
        </p:nvPicPr>
        <p:blipFill>
          <a:blip r:embed="rId3"/>
          <a:stretch>
            <a:fillRect/>
          </a:stretch>
        </p:blipFill>
        <p:spPr>
          <a:xfrm>
            <a:off x="7952305" y="674200"/>
            <a:ext cx="3909695" cy="1915795"/>
          </a:xfrm>
          <a:prstGeom prst="rect">
            <a:avLst/>
          </a:prstGeom>
          <a:noFill/>
          <a:ln>
            <a:noFill/>
          </a:ln>
        </p:spPr>
      </p:pic>
      <p:pic>
        <p:nvPicPr>
          <p:cNvPr id="5" name="Picture 4">
            <a:extLst>
              <a:ext uri="{FF2B5EF4-FFF2-40B4-BE49-F238E27FC236}">
                <a16:creationId xmlns:a16="http://schemas.microsoft.com/office/drawing/2014/main" id="{584E748E-3B3E-23B2-7841-3B304D50F2AB}"/>
              </a:ext>
            </a:extLst>
          </p:cNvPr>
          <p:cNvPicPr>
            <a:picLocks noChangeAspect="1"/>
          </p:cNvPicPr>
          <p:nvPr/>
        </p:nvPicPr>
        <p:blipFill>
          <a:blip r:embed="rId4"/>
          <a:stretch>
            <a:fillRect/>
          </a:stretch>
        </p:blipFill>
        <p:spPr>
          <a:xfrm>
            <a:off x="8125342" y="2726968"/>
            <a:ext cx="3563620" cy="2660650"/>
          </a:xfrm>
          <a:prstGeom prst="rect">
            <a:avLst/>
          </a:prstGeom>
          <a:noFill/>
          <a:ln>
            <a:noFill/>
          </a:ln>
        </p:spPr>
      </p:pic>
      <p:sp>
        <p:nvSpPr>
          <p:cNvPr id="6" name="TextBox 5">
            <a:extLst>
              <a:ext uri="{FF2B5EF4-FFF2-40B4-BE49-F238E27FC236}">
                <a16:creationId xmlns:a16="http://schemas.microsoft.com/office/drawing/2014/main" id="{E5C9DA65-2878-612B-B82F-4EEC61A68D02}"/>
              </a:ext>
            </a:extLst>
          </p:cNvPr>
          <p:cNvSpPr txBox="1"/>
          <p:nvPr/>
        </p:nvSpPr>
        <p:spPr>
          <a:xfrm>
            <a:off x="342000" y="3824146"/>
            <a:ext cx="7515460" cy="923330"/>
          </a:xfrm>
          <a:prstGeom prst="rect">
            <a:avLst/>
          </a:prstGeom>
          <a:noFill/>
        </p:spPr>
        <p:txBody>
          <a:bodyPr wrap="square" rtlCol="0">
            <a:spAutoFit/>
          </a:bodyPr>
          <a:lstStyle/>
          <a:p>
            <a:r>
              <a:rPr lang="en-IN" b="1" dirty="0"/>
              <a:t>Key Takeaway</a:t>
            </a:r>
          </a:p>
          <a:p>
            <a:r>
              <a:rPr lang="en-IN" dirty="0"/>
              <a:t>Interactive dashboard enables real-time package risk assessment.</a:t>
            </a:r>
          </a:p>
          <a:p>
            <a:endParaRPr lang="en-GB" dirty="0"/>
          </a:p>
        </p:txBody>
      </p:sp>
      <p:pic>
        <p:nvPicPr>
          <p:cNvPr id="8" name="Picture 7">
            <a:extLst>
              <a:ext uri="{FF2B5EF4-FFF2-40B4-BE49-F238E27FC236}">
                <a16:creationId xmlns:a16="http://schemas.microsoft.com/office/drawing/2014/main" id="{9803531B-C3B6-5BE3-28CF-EBEF42B51843}"/>
              </a:ext>
            </a:extLst>
          </p:cNvPr>
          <p:cNvPicPr>
            <a:picLocks noChangeAspect="1"/>
          </p:cNvPicPr>
          <p:nvPr/>
        </p:nvPicPr>
        <p:blipFill>
          <a:blip r:embed="rId5"/>
          <a:stretch>
            <a:fillRect/>
          </a:stretch>
        </p:blipFill>
        <p:spPr>
          <a:xfrm>
            <a:off x="4380496" y="878041"/>
            <a:ext cx="2686510" cy="2946105"/>
          </a:xfrm>
          <a:prstGeom prst="rect">
            <a:avLst/>
          </a:prstGeom>
        </p:spPr>
      </p:pic>
    </p:spTree>
    <p:extLst>
      <p:ext uri="{BB962C8B-B14F-4D97-AF65-F5344CB8AC3E}">
        <p14:creationId xmlns:p14="http://schemas.microsoft.com/office/powerpoint/2010/main" val="4194884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D3AAC-C205-2812-DF6B-8071861896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C8475E-0974-5E9D-E975-0CD7E118CCAE}"/>
              </a:ext>
            </a:extLst>
          </p:cNvPr>
          <p:cNvSpPr>
            <a:spLocks noGrp="1"/>
          </p:cNvSpPr>
          <p:nvPr>
            <p:ph type="title"/>
          </p:nvPr>
        </p:nvSpPr>
        <p:spPr/>
        <p:txBody>
          <a:bodyPr>
            <a:normAutofit fontScale="90000"/>
          </a:bodyPr>
          <a:lstStyle/>
          <a:p>
            <a:r>
              <a:rPr lang="en-IN" dirty="0"/>
              <a:t>Contributions</a:t>
            </a:r>
            <a:endParaRPr lang="en-US" dirty="0"/>
          </a:p>
        </p:txBody>
      </p:sp>
      <p:sp>
        <p:nvSpPr>
          <p:cNvPr id="3" name="Content Placeholder 2">
            <a:extLst>
              <a:ext uri="{FF2B5EF4-FFF2-40B4-BE49-F238E27FC236}">
                <a16:creationId xmlns:a16="http://schemas.microsoft.com/office/drawing/2014/main" id="{2A83DEE2-07B1-887F-EDE3-CAB013C92EBC}"/>
              </a:ext>
            </a:extLst>
          </p:cNvPr>
          <p:cNvSpPr>
            <a:spLocks noGrp="1"/>
          </p:cNvSpPr>
          <p:nvPr>
            <p:ph sz="half" idx="1"/>
          </p:nvPr>
        </p:nvSpPr>
        <p:spPr>
          <a:xfrm>
            <a:off x="1739721" y="788831"/>
            <a:ext cx="9328771" cy="5494085"/>
          </a:xfrm>
        </p:spPr>
        <p:txBody>
          <a:bodyPr vert="horz" lIns="91440" tIns="0" rIns="91440" bIns="0" rtlCol="0" anchor="t">
            <a:noAutofit/>
          </a:bodyPr>
          <a:lstStyle/>
          <a:p>
            <a:r>
              <a:rPr lang="en-IN" sz="2000" b="1" dirty="0"/>
              <a:t>Academic Contributions</a:t>
            </a:r>
          </a:p>
          <a:p>
            <a:pPr>
              <a:buFont typeface="Arial" panose="020B0604020202020204" pitchFamily="34" charset="0"/>
              <a:buChar char="•"/>
            </a:pPr>
            <a:r>
              <a:rPr lang="en-IN" sz="2000" dirty="0"/>
              <a:t>Lightweight ML-based detection framework. </a:t>
            </a:r>
          </a:p>
          <a:p>
            <a:pPr>
              <a:buFont typeface="Arial" panose="020B0604020202020204" pitchFamily="34" charset="0"/>
              <a:buChar char="•"/>
            </a:pPr>
            <a:r>
              <a:rPr lang="en-IN" sz="2000" dirty="0"/>
              <a:t>Metadata-driven attack prediction. </a:t>
            </a:r>
          </a:p>
          <a:p>
            <a:pPr>
              <a:buFont typeface="Arial" panose="020B0604020202020204" pitchFamily="34" charset="0"/>
              <a:buChar char="•"/>
            </a:pPr>
            <a:r>
              <a:rPr lang="en-IN" sz="2000" dirty="0"/>
              <a:t>External validation using </a:t>
            </a:r>
            <a:r>
              <a:rPr lang="en-IN" sz="2000" dirty="0" err="1"/>
              <a:t>OpenSSF</a:t>
            </a:r>
            <a:r>
              <a:rPr lang="en-IN" sz="2000" dirty="0"/>
              <a:t>. </a:t>
            </a:r>
          </a:p>
          <a:p>
            <a:pPr>
              <a:buFont typeface="Arial" panose="020B0604020202020204" pitchFamily="34" charset="0"/>
              <a:buChar char="•"/>
            </a:pPr>
            <a:r>
              <a:rPr lang="en-IN" sz="2000" dirty="0"/>
              <a:t>Comparative evaluation of three ML models. </a:t>
            </a:r>
          </a:p>
          <a:p>
            <a:r>
              <a:rPr lang="en-IN" sz="2000" b="1" dirty="0"/>
              <a:t>Practical Contributions</a:t>
            </a:r>
          </a:p>
          <a:p>
            <a:pPr>
              <a:buFont typeface="Arial" panose="020B0604020202020204" pitchFamily="34" charset="0"/>
              <a:buChar char="•"/>
            </a:pPr>
            <a:r>
              <a:rPr lang="en-IN" sz="2000" dirty="0" err="1"/>
              <a:t>Streamlit</a:t>
            </a:r>
            <a:r>
              <a:rPr lang="en-IN" sz="2000" dirty="0"/>
              <a:t> deployment. </a:t>
            </a:r>
          </a:p>
          <a:p>
            <a:pPr>
              <a:buFont typeface="Arial" panose="020B0604020202020204" pitchFamily="34" charset="0"/>
              <a:buChar char="•"/>
            </a:pPr>
            <a:r>
              <a:rPr lang="en-IN" sz="2000" dirty="0"/>
              <a:t>Early warning system. </a:t>
            </a:r>
          </a:p>
          <a:p>
            <a:pPr>
              <a:buFont typeface="Arial" panose="020B0604020202020204" pitchFamily="34" charset="0"/>
              <a:buChar char="•"/>
            </a:pPr>
            <a:r>
              <a:rPr lang="en-IN" sz="2000" dirty="0"/>
              <a:t>Scalable architecture. </a:t>
            </a:r>
          </a:p>
          <a:p>
            <a:pPr>
              <a:buFont typeface="Arial" panose="020B0604020202020204" pitchFamily="34" charset="0"/>
              <a:buChar char="•"/>
            </a:pPr>
            <a:r>
              <a:rPr lang="en-IN" sz="2000" dirty="0"/>
              <a:t>Reduced computational cost. </a:t>
            </a:r>
          </a:p>
          <a:p>
            <a:r>
              <a:rPr lang="en-IN" sz="2000" b="1" dirty="0"/>
              <a:t>Key Message</a:t>
            </a:r>
          </a:p>
          <a:p>
            <a:pPr marL="0" indent="0">
              <a:buNone/>
            </a:pPr>
            <a:r>
              <a:rPr lang="en-IN" sz="2000" dirty="0"/>
              <a:t>The framework improves software supply chain security through efficient pre-installation detection.</a:t>
            </a:r>
          </a:p>
        </p:txBody>
      </p:sp>
    </p:spTree>
    <p:extLst>
      <p:ext uri="{BB962C8B-B14F-4D97-AF65-F5344CB8AC3E}">
        <p14:creationId xmlns:p14="http://schemas.microsoft.com/office/powerpoint/2010/main" val="2734581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5A7A5-0159-BE52-2514-3E8F5A6431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F5E6BE-5023-5BCE-CAD2-5CDF4AF45BD6}"/>
              </a:ext>
            </a:extLst>
          </p:cNvPr>
          <p:cNvSpPr>
            <a:spLocks noGrp="1"/>
          </p:cNvSpPr>
          <p:nvPr>
            <p:ph type="title"/>
          </p:nvPr>
        </p:nvSpPr>
        <p:spPr/>
        <p:txBody>
          <a:bodyPr>
            <a:normAutofit fontScale="90000"/>
          </a:bodyPr>
          <a:lstStyle/>
          <a:p>
            <a:r>
              <a:rPr lang="en-IN" dirty="0"/>
              <a:t>Project Management</a:t>
            </a:r>
            <a:endParaRPr lang="en-US" dirty="0"/>
          </a:p>
        </p:txBody>
      </p:sp>
      <p:sp>
        <p:nvSpPr>
          <p:cNvPr id="3" name="Content Placeholder 2">
            <a:extLst>
              <a:ext uri="{FF2B5EF4-FFF2-40B4-BE49-F238E27FC236}">
                <a16:creationId xmlns:a16="http://schemas.microsoft.com/office/drawing/2014/main" id="{2B3BDE02-E0F2-FA35-9158-797D73BCF160}"/>
              </a:ext>
            </a:extLst>
          </p:cNvPr>
          <p:cNvSpPr>
            <a:spLocks noGrp="1"/>
          </p:cNvSpPr>
          <p:nvPr>
            <p:ph sz="half" idx="1"/>
          </p:nvPr>
        </p:nvSpPr>
        <p:spPr>
          <a:xfrm>
            <a:off x="1739721" y="788831"/>
            <a:ext cx="9328771" cy="5494085"/>
          </a:xfrm>
        </p:spPr>
        <p:txBody>
          <a:bodyPr vert="horz" lIns="91440" tIns="0" rIns="91440" bIns="0" rtlCol="0" anchor="t">
            <a:noAutofit/>
          </a:bodyPr>
          <a:lstStyle/>
          <a:p>
            <a:r>
              <a:rPr lang="en-IN" sz="2000" b="1" dirty="0"/>
              <a:t>Major Phases</a:t>
            </a:r>
          </a:p>
          <a:p>
            <a:pPr>
              <a:buFont typeface="Arial" panose="020B0604020202020204" pitchFamily="34" charset="0"/>
              <a:buChar char="•"/>
            </a:pPr>
            <a:r>
              <a:rPr lang="en-IN" sz="2000" dirty="0"/>
              <a:t>Literature Review </a:t>
            </a:r>
          </a:p>
          <a:p>
            <a:pPr>
              <a:buFont typeface="Arial" panose="020B0604020202020204" pitchFamily="34" charset="0"/>
              <a:buChar char="•"/>
            </a:pPr>
            <a:r>
              <a:rPr lang="en-IN" sz="2000" dirty="0"/>
              <a:t>Dataset Collection </a:t>
            </a:r>
          </a:p>
          <a:p>
            <a:pPr>
              <a:buFont typeface="Arial" panose="020B0604020202020204" pitchFamily="34" charset="0"/>
              <a:buChar char="•"/>
            </a:pPr>
            <a:r>
              <a:rPr lang="en-IN" sz="2000" dirty="0"/>
              <a:t>Feature Engineering </a:t>
            </a:r>
          </a:p>
          <a:p>
            <a:pPr>
              <a:buFont typeface="Arial" panose="020B0604020202020204" pitchFamily="34" charset="0"/>
              <a:buChar char="•"/>
            </a:pPr>
            <a:r>
              <a:rPr lang="en-IN" sz="2000" dirty="0"/>
              <a:t>Model Development </a:t>
            </a:r>
          </a:p>
          <a:p>
            <a:pPr>
              <a:buFont typeface="Arial" panose="020B0604020202020204" pitchFamily="34" charset="0"/>
              <a:buChar char="•"/>
            </a:pPr>
            <a:r>
              <a:rPr lang="en-IN" sz="2000" dirty="0"/>
              <a:t>Evaluation </a:t>
            </a:r>
          </a:p>
          <a:p>
            <a:pPr>
              <a:buFont typeface="Arial" panose="020B0604020202020204" pitchFamily="34" charset="0"/>
              <a:buChar char="•"/>
            </a:pPr>
            <a:r>
              <a:rPr lang="en-IN" sz="2000" dirty="0"/>
              <a:t>Dashboard Development </a:t>
            </a:r>
          </a:p>
          <a:p>
            <a:pPr>
              <a:buFont typeface="Arial" panose="020B0604020202020204" pitchFamily="34" charset="0"/>
              <a:buChar char="•"/>
            </a:pPr>
            <a:r>
              <a:rPr lang="en-IN" sz="2000" dirty="0"/>
              <a:t>Dissertation Writing </a:t>
            </a:r>
          </a:p>
          <a:p>
            <a:r>
              <a:rPr lang="en-IN" sz="2000" b="1" dirty="0"/>
              <a:t>Project Outcome</a:t>
            </a:r>
          </a:p>
          <a:p>
            <a:pPr marL="0" indent="0">
              <a:buNone/>
            </a:pPr>
            <a:r>
              <a:rPr lang="en-IN" sz="2000" dirty="0"/>
              <a:t>All planned milestones successfully completed.</a:t>
            </a:r>
          </a:p>
        </p:txBody>
      </p:sp>
    </p:spTree>
    <p:extLst>
      <p:ext uri="{BB962C8B-B14F-4D97-AF65-F5344CB8AC3E}">
        <p14:creationId xmlns:p14="http://schemas.microsoft.com/office/powerpoint/2010/main" val="37180768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DE962-3551-2DD0-A849-005FAE19B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C42100-1DC5-273F-8673-0B72B4DB26DA}"/>
              </a:ext>
            </a:extLst>
          </p:cNvPr>
          <p:cNvSpPr>
            <a:spLocks noGrp="1"/>
          </p:cNvSpPr>
          <p:nvPr>
            <p:ph type="title"/>
          </p:nvPr>
        </p:nvSpPr>
        <p:spPr/>
        <p:txBody>
          <a:bodyPr>
            <a:normAutofit fontScale="90000"/>
          </a:bodyPr>
          <a:lstStyle/>
          <a:p>
            <a:r>
              <a:rPr lang="en-IN" dirty="0"/>
              <a:t>Conclusion</a:t>
            </a:r>
            <a:endParaRPr lang="en-US" dirty="0"/>
          </a:p>
        </p:txBody>
      </p:sp>
      <p:sp>
        <p:nvSpPr>
          <p:cNvPr id="3" name="Content Placeholder 2">
            <a:extLst>
              <a:ext uri="{FF2B5EF4-FFF2-40B4-BE49-F238E27FC236}">
                <a16:creationId xmlns:a16="http://schemas.microsoft.com/office/drawing/2014/main" id="{BD587F4C-A616-A0F8-895B-29D744AECDCA}"/>
              </a:ext>
            </a:extLst>
          </p:cNvPr>
          <p:cNvSpPr>
            <a:spLocks noGrp="1"/>
          </p:cNvSpPr>
          <p:nvPr>
            <p:ph sz="half" idx="1"/>
          </p:nvPr>
        </p:nvSpPr>
        <p:spPr>
          <a:xfrm>
            <a:off x="1739722" y="788832"/>
            <a:ext cx="8308046" cy="3985188"/>
          </a:xfrm>
        </p:spPr>
        <p:txBody>
          <a:bodyPr vert="horz" lIns="91440" tIns="0" rIns="91440" bIns="0" rtlCol="0" anchor="t">
            <a:noAutofit/>
          </a:bodyPr>
          <a:lstStyle/>
          <a:p>
            <a:pPr>
              <a:lnSpc>
                <a:spcPct val="150000"/>
              </a:lnSpc>
            </a:pPr>
            <a:r>
              <a:rPr lang="en-IN" sz="2000" b="1" dirty="0"/>
              <a:t>Research Summary</a:t>
            </a:r>
          </a:p>
          <a:p>
            <a:pPr>
              <a:lnSpc>
                <a:spcPct val="150000"/>
              </a:lnSpc>
              <a:buFont typeface="Arial" panose="020B0604020202020204" pitchFamily="34" charset="0"/>
              <a:buChar char="•"/>
            </a:pPr>
            <a:r>
              <a:rPr lang="en-IN" sz="2000" dirty="0"/>
              <a:t>Successfully developed a lightweight ML framework. </a:t>
            </a:r>
          </a:p>
          <a:p>
            <a:pPr>
              <a:lnSpc>
                <a:spcPct val="150000"/>
              </a:lnSpc>
              <a:buFont typeface="Arial" panose="020B0604020202020204" pitchFamily="34" charset="0"/>
              <a:buChar char="•"/>
            </a:pPr>
            <a:r>
              <a:rPr lang="en-IN" sz="2000" dirty="0"/>
              <a:t>Constructed labelled training and validation datasets. </a:t>
            </a:r>
          </a:p>
          <a:p>
            <a:pPr>
              <a:lnSpc>
                <a:spcPct val="150000"/>
              </a:lnSpc>
              <a:buFont typeface="Arial" panose="020B0604020202020204" pitchFamily="34" charset="0"/>
              <a:buChar char="•"/>
            </a:pPr>
            <a:r>
              <a:rPr lang="en-IN" sz="2000" dirty="0"/>
              <a:t>Compared three supervised learning models. </a:t>
            </a:r>
          </a:p>
          <a:p>
            <a:pPr>
              <a:lnSpc>
                <a:spcPct val="150000"/>
              </a:lnSpc>
              <a:buFont typeface="Arial" panose="020B0604020202020204" pitchFamily="34" charset="0"/>
              <a:buChar char="•"/>
            </a:pPr>
            <a:r>
              <a:rPr lang="en-IN" sz="2000" dirty="0"/>
              <a:t>Decision Tree achieved the best overall performance. </a:t>
            </a:r>
          </a:p>
          <a:p>
            <a:pPr>
              <a:lnSpc>
                <a:spcPct val="150000"/>
              </a:lnSpc>
              <a:buFont typeface="Arial" panose="020B0604020202020204" pitchFamily="34" charset="0"/>
              <a:buChar char="•"/>
            </a:pPr>
            <a:r>
              <a:rPr lang="en-IN" sz="2000" dirty="0" err="1"/>
              <a:t>Streamlit</a:t>
            </a:r>
            <a:r>
              <a:rPr lang="en-IN" sz="2000" dirty="0"/>
              <a:t> application demonstrated practical implementation. </a:t>
            </a:r>
          </a:p>
          <a:p>
            <a:pPr>
              <a:lnSpc>
                <a:spcPct val="150000"/>
              </a:lnSpc>
            </a:pPr>
            <a:r>
              <a:rPr lang="en-IN" sz="2000" b="1" dirty="0"/>
              <a:t>Final Takeaway</a:t>
            </a:r>
          </a:p>
          <a:p>
            <a:pPr>
              <a:lnSpc>
                <a:spcPct val="150000"/>
              </a:lnSpc>
              <a:buFont typeface="Arial" panose="020B0604020202020204" pitchFamily="34" charset="0"/>
              <a:buChar char="•"/>
            </a:pPr>
            <a:r>
              <a:rPr lang="en-IN" sz="2000" dirty="0"/>
              <a:t>Metadata-based machine learning can effectively detect software supply chain attacks before package installation. </a:t>
            </a:r>
          </a:p>
        </p:txBody>
      </p:sp>
    </p:spTree>
    <p:extLst>
      <p:ext uri="{BB962C8B-B14F-4D97-AF65-F5344CB8AC3E}">
        <p14:creationId xmlns:p14="http://schemas.microsoft.com/office/powerpoint/2010/main" val="31478676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12D1E-3046-D830-B039-050450805597}"/>
              </a:ext>
            </a:extLst>
          </p:cNvPr>
          <p:cNvSpPr>
            <a:spLocks noGrp="1"/>
          </p:cNvSpPr>
          <p:nvPr>
            <p:ph type="title"/>
          </p:nvPr>
        </p:nvSpPr>
        <p:spPr/>
        <p:txBody>
          <a:bodyPr>
            <a:normAutofit fontScale="90000"/>
          </a:bodyPr>
          <a:lstStyle/>
          <a:p>
            <a:r>
              <a:rPr lang="en-US" dirty="0"/>
              <a:t>References</a:t>
            </a:r>
          </a:p>
        </p:txBody>
      </p:sp>
      <p:graphicFrame>
        <p:nvGraphicFramePr>
          <p:cNvPr id="10" name="Content Placeholder 9">
            <a:extLst>
              <a:ext uri="{FF2B5EF4-FFF2-40B4-BE49-F238E27FC236}">
                <a16:creationId xmlns:a16="http://schemas.microsoft.com/office/drawing/2014/main" id="{B2938F99-B9AB-9B66-C87F-50829CD5092F}"/>
              </a:ext>
            </a:extLst>
          </p:cNvPr>
          <p:cNvGraphicFramePr>
            <a:graphicFrameLocks noGrp="1"/>
          </p:cNvGraphicFramePr>
          <p:nvPr>
            <p:ph sz="half" idx="1"/>
            <p:extLst>
              <p:ext uri="{D42A27DB-BD31-4B8C-83A1-F6EECF244321}">
                <p14:modId xmlns:p14="http://schemas.microsoft.com/office/powerpoint/2010/main" val="3463405659"/>
              </p:ext>
            </p:extLst>
          </p:nvPr>
        </p:nvGraphicFramePr>
        <p:xfrm>
          <a:off x="719950" y="895298"/>
          <a:ext cx="10515600" cy="5483800"/>
        </p:xfrm>
        <a:graphic>
          <a:graphicData uri="http://schemas.openxmlformats.org/drawingml/2006/table">
            <a:tbl>
              <a:tblPr firstRow="1" firstCol="1" bandRow="1"/>
              <a:tblGrid>
                <a:gridCol w="457200">
                  <a:extLst>
                    <a:ext uri="{9D8B030D-6E8A-4147-A177-3AD203B41FA5}">
                      <a16:colId xmlns:a16="http://schemas.microsoft.com/office/drawing/2014/main" val="1957298196"/>
                    </a:ext>
                  </a:extLst>
                </a:gridCol>
                <a:gridCol w="10058400">
                  <a:extLst>
                    <a:ext uri="{9D8B030D-6E8A-4147-A177-3AD203B41FA5}">
                      <a16:colId xmlns:a16="http://schemas.microsoft.com/office/drawing/2014/main" val="3925387457"/>
                    </a:ext>
                  </a:extLst>
                </a:gridCol>
              </a:tblGrid>
              <a:tr h="0">
                <a:tc>
                  <a:txBody>
                    <a:bodyPr/>
                    <a:lstStyle/>
                    <a:p>
                      <a:pPr algn="just">
                        <a:lnSpc>
                          <a:spcPct val="150000"/>
                        </a:lnSpc>
                        <a:spcAft>
                          <a:spcPts val="600"/>
                        </a:spcAft>
                        <a:buNone/>
                      </a:pP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[1]</a:t>
                      </a:r>
                    </a:p>
                  </a:txBody>
                  <a:tcPr marL="0" marR="0" marT="0" marB="0">
                    <a:lnL>
                      <a:noFill/>
                    </a:lnL>
                    <a:lnR>
                      <a:noFill/>
                    </a:lnR>
                    <a:lnT>
                      <a:noFill/>
                    </a:lnT>
                    <a:lnB>
                      <a:noFill/>
                    </a:lnB>
                    <a:noFill/>
                  </a:tcPr>
                </a:tc>
                <a:tc>
                  <a:txBody>
                    <a:bodyPr/>
                    <a:lstStyle/>
                    <a:p>
                      <a:pPr algn="just">
                        <a:lnSpc>
                          <a:spcPct val="150000"/>
                        </a:lnSpc>
                        <a:buNone/>
                      </a:pP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A. O. OLANIYI, M. G. Adewunmi, and O. A. A. Ayeni, “Machine Learning Model for Detecting Attack in Service Supply Chain,” </a:t>
                      </a:r>
                      <a:r>
                        <a:rPr lang="en-IN" sz="1400" i="1">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Journal of Information Security and Cybercrimes Research</a:t>
                      </a: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vol. 8, no. 1, pp. 01–16, June 2025, doi: </a:t>
                      </a:r>
                      <a:r>
                        <a:rPr lang="en-IN" sz="1400" u="sng">
                          <a:solidFill>
                            <a:srgbClr val="000000"/>
                          </a:solidFill>
                          <a:effectLst/>
                          <a:latin typeface="Arial" panose="020B0604020202020204" pitchFamily="34" charset="0"/>
                          <a:ea typeface="DengXian" panose="02010600030101010101" pitchFamily="2" charset="-122"/>
                          <a:cs typeface="Times New Roman" panose="02020603050405020304" pitchFamily="18" charset="0"/>
                          <a:hlinkClick r:id="rId2"/>
                        </a:rPr>
                        <a:t>https://doi.org/10.26735/gnvr4188</a:t>
                      </a: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a:t>
                      </a:r>
                    </a:p>
                  </a:txBody>
                  <a:tcPr marL="0" marR="0" marT="0" marB="0">
                    <a:lnL>
                      <a:noFill/>
                    </a:lnL>
                    <a:lnR>
                      <a:noFill/>
                    </a:lnR>
                    <a:lnT>
                      <a:noFill/>
                    </a:lnT>
                    <a:lnB>
                      <a:noFill/>
                    </a:lnB>
                    <a:noFill/>
                  </a:tcPr>
                </a:tc>
                <a:extLst>
                  <a:ext uri="{0D108BD9-81ED-4DB2-BD59-A6C34878D82A}">
                    <a16:rowId xmlns:a16="http://schemas.microsoft.com/office/drawing/2014/main" val="4233323072"/>
                  </a:ext>
                </a:extLst>
              </a:tr>
              <a:tr h="0">
                <a:tc>
                  <a:txBody>
                    <a:bodyPr/>
                    <a:lstStyle/>
                    <a:p>
                      <a:pPr algn="just">
                        <a:lnSpc>
                          <a:spcPct val="150000"/>
                        </a:lnSpc>
                        <a:buNone/>
                      </a:pP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[2]</a:t>
                      </a:r>
                    </a:p>
                  </a:txBody>
                  <a:tcPr marL="0" marR="0" marT="0" marB="0">
                    <a:lnL>
                      <a:noFill/>
                    </a:lnL>
                    <a:lnR>
                      <a:noFill/>
                    </a:lnR>
                    <a:lnT>
                      <a:noFill/>
                    </a:lnT>
                    <a:lnB>
                      <a:noFill/>
                    </a:lnB>
                    <a:noFill/>
                  </a:tcPr>
                </a:tc>
                <a:tc>
                  <a:txBody>
                    <a:bodyPr/>
                    <a:lstStyle/>
                    <a:p>
                      <a:pPr algn="just">
                        <a:lnSpc>
                          <a:spcPct val="150000"/>
                        </a:lnSpc>
                        <a:buNone/>
                      </a:pP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S. Ismail, S. Dandan, D. W. Dawoud, and H. Reza, “A Comparative Study of Lightweight Machine Learning Techniques for Cyber-Attacks Detection in Blockchain-Enabled Industrial Supply Chain,” </a:t>
                      </a:r>
                      <a:r>
                        <a:rPr lang="en-IN" sz="1400" i="1">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IEEE Access</a:t>
                      </a: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vol. 12, pp. 102481–102491, 2024, doi: </a:t>
                      </a:r>
                      <a:r>
                        <a:rPr lang="en-IN" sz="1400" u="sng">
                          <a:solidFill>
                            <a:srgbClr val="000000"/>
                          </a:solidFill>
                          <a:effectLst/>
                          <a:latin typeface="Arial" panose="020B0604020202020204" pitchFamily="34" charset="0"/>
                          <a:ea typeface="DengXian" panose="02010600030101010101" pitchFamily="2" charset="-122"/>
                          <a:cs typeface="Times New Roman" panose="02020603050405020304" pitchFamily="18" charset="0"/>
                          <a:hlinkClick r:id="rId3"/>
                        </a:rPr>
                        <a:t>https://doi.org/10.1109/access.2024.3432454</a:t>
                      </a: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a:t>
                      </a:r>
                    </a:p>
                  </a:txBody>
                  <a:tcPr marL="0" marR="0" marT="0" marB="0">
                    <a:lnL>
                      <a:noFill/>
                    </a:lnL>
                    <a:lnR>
                      <a:noFill/>
                    </a:lnR>
                    <a:lnT>
                      <a:noFill/>
                    </a:lnT>
                    <a:lnB>
                      <a:noFill/>
                    </a:lnB>
                    <a:noFill/>
                  </a:tcPr>
                </a:tc>
                <a:extLst>
                  <a:ext uri="{0D108BD9-81ED-4DB2-BD59-A6C34878D82A}">
                    <a16:rowId xmlns:a16="http://schemas.microsoft.com/office/drawing/2014/main" val="1745186149"/>
                  </a:ext>
                </a:extLst>
              </a:tr>
              <a:tr h="0">
                <a:tc>
                  <a:txBody>
                    <a:bodyPr/>
                    <a:lstStyle/>
                    <a:p>
                      <a:pPr algn="just">
                        <a:lnSpc>
                          <a:spcPct val="150000"/>
                        </a:lnSpc>
                        <a:buNone/>
                      </a:pP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[3]</a:t>
                      </a:r>
                    </a:p>
                  </a:txBody>
                  <a:tcPr marL="0" marR="0" marT="0" marB="0">
                    <a:lnL>
                      <a:noFill/>
                    </a:lnL>
                    <a:lnR>
                      <a:noFill/>
                    </a:lnR>
                    <a:lnT>
                      <a:noFill/>
                    </a:lnT>
                    <a:lnB>
                      <a:noFill/>
                    </a:lnB>
                    <a:noFill/>
                  </a:tcPr>
                </a:tc>
                <a:tc>
                  <a:txBody>
                    <a:bodyPr/>
                    <a:lstStyle/>
                    <a:p>
                      <a:pPr algn="just">
                        <a:lnSpc>
                          <a:spcPct val="150000"/>
                        </a:lnSpc>
                        <a:buNone/>
                      </a:pP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X. Zheng </a:t>
                      </a:r>
                      <a:r>
                        <a:rPr lang="en-IN" sz="1400" i="1">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et al.</a:t>
                      </a: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“Towards Robust Detection of Open Source Software Supply Chain Poisoning Attacks in Industry Environments,” </a:t>
                      </a:r>
                      <a:r>
                        <a:rPr lang="en-IN" sz="1400" i="1">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arXiv (Cornell University)</a:t>
                      </a: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pp. 1990–2001, Oct. 2024, doi: </a:t>
                      </a:r>
                      <a:r>
                        <a:rPr lang="en-IN" sz="1400" u="sng">
                          <a:solidFill>
                            <a:srgbClr val="000000"/>
                          </a:solidFill>
                          <a:effectLst/>
                          <a:latin typeface="Arial" panose="020B0604020202020204" pitchFamily="34" charset="0"/>
                          <a:ea typeface="DengXian" panose="02010600030101010101" pitchFamily="2" charset="-122"/>
                          <a:cs typeface="Times New Roman" panose="02020603050405020304" pitchFamily="18" charset="0"/>
                          <a:hlinkClick r:id="rId4"/>
                        </a:rPr>
                        <a:t>https://doi.org/10.1145/3691620.3695262</a:t>
                      </a: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a:t>
                      </a:r>
                    </a:p>
                  </a:txBody>
                  <a:tcPr marL="0" marR="0" marT="0" marB="0">
                    <a:lnL>
                      <a:noFill/>
                    </a:lnL>
                    <a:lnR>
                      <a:noFill/>
                    </a:lnR>
                    <a:lnT>
                      <a:noFill/>
                    </a:lnT>
                    <a:lnB>
                      <a:noFill/>
                    </a:lnB>
                    <a:noFill/>
                  </a:tcPr>
                </a:tc>
                <a:extLst>
                  <a:ext uri="{0D108BD9-81ED-4DB2-BD59-A6C34878D82A}">
                    <a16:rowId xmlns:a16="http://schemas.microsoft.com/office/drawing/2014/main" val="432715559"/>
                  </a:ext>
                </a:extLst>
              </a:tr>
              <a:tr h="0">
                <a:tc>
                  <a:txBody>
                    <a:bodyPr/>
                    <a:lstStyle/>
                    <a:p>
                      <a:pPr algn="just">
                        <a:lnSpc>
                          <a:spcPct val="150000"/>
                        </a:lnSpc>
                        <a:buNone/>
                      </a:pP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[4]</a:t>
                      </a:r>
                    </a:p>
                  </a:txBody>
                  <a:tcPr marL="0" marR="0" marT="0" marB="0">
                    <a:lnL>
                      <a:noFill/>
                    </a:lnL>
                    <a:lnR>
                      <a:noFill/>
                    </a:lnR>
                    <a:lnT>
                      <a:noFill/>
                    </a:lnT>
                    <a:lnB>
                      <a:noFill/>
                    </a:lnB>
                    <a:noFill/>
                  </a:tcPr>
                </a:tc>
                <a:tc>
                  <a:txBody>
                    <a:bodyPr/>
                    <a:lstStyle/>
                    <a:p>
                      <a:pPr algn="just">
                        <a:lnSpc>
                          <a:spcPct val="150000"/>
                        </a:lnSpc>
                        <a:buNone/>
                      </a:pPr>
                      <a:r>
                        <a:rPr lang="en-IN" sz="14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T. </a:t>
                      </a:r>
                      <a:r>
                        <a:rPr lang="en-IN" sz="1400" dirty="0" err="1">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Mens</a:t>
                      </a:r>
                      <a:r>
                        <a:rPr lang="en-IN" sz="14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and A. Decan, “An Overview and Catalogue of Dependency Challenges in Open Source Software Package Registries,” </a:t>
                      </a:r>
                      <a:r>
                        <a:rPr lang="en-IN" sz="1400" i="1"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arXiv.org</a:t>
                      </a:r>
                      <a:r>
                        <a:rPr lang="en-IN" sz="14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2024. </a:t>
                      </a:r>
                      <a:r>
                        <a:rPr lang="en-IN" sz="1400" u="sng"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hlinkClick r:id="rId5"/>
                        </a:rPr>
                        <a:t>https://arxiv.org/abs/2409.18884</a:t>
                      </a:r>
                      <a:r>
                        <a:rPr lang="en-US" sz="14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a:t>
                      </a:r>
                      <a:r>
                        <a:rPr lang="en-IN" sz="14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(accessed July 08, 2026).</a:t>
                      </a:r>
                    </a:p>
                  </a:txBody>
                  <a:tcPr marL="0" marR="0" marT="0" marB="0">
                    <a:lnL>
                      <a:noFill/>
                    </a:lnL>
                    <a:lnR>
                      <a:noFill/>
                    </a:lnR>
                    <a:lnT>
                      <a:noFill/>
                    </a:lnT>
                    <a:lnB>
                      <a:noFill/>
                    </a:lnB>
                    <a:noFill/>
                  </a:tcPr>
                </a:tc>
                <a:extLst>
                  <a:ext uri="{0D108BD9-81ED-4DB2-BD59-A6C34878D82A}">
                    <a16:rowId xmlns:a16="http://schemas.microsoft.com/office/drawing/2014/main" val="698238749"/>
                  </a:ext>
                </a:extLst>
              </a:tr>
              <a:tr h="0">
                <a:tc>
                  <a:txBody>
                    <a:bodyPr/>
                    <a:lstStyle/>
                    <a:p>
                      <a:pPr algn="just">
                        <a:lnSpc>
                          <a:spcPct val="150000"/>
                        </a:lnSpc>
                        <a:buNone/>
                      </a:pP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[5]</a:t>
                      </a:r>
                    </a:p>
                  </a:txBody>
                  <a:tcPr marL="0" marR="0" marT="0" marB="0">
                    <a:lnL>
                      <a:noFill/>
                    </a:lnL>
                    <a:lnR>
                      <a:noFill/>
                    </a:lnR>
                    <a:lnT>
                      <a:noFill/>
                    </a:lnT>
                    <a:lnB>
                      <a:noFill/>
                    </a:lnB>
                    <a:noFill/>
                  </a:tcPr>
                </a:tc>
                <a:tc>
                  <a:txBody>
                    <a:bodyPr/>
                    <a:lstStyle/>
                    <a:p>
                      <a:pPr algn="just">
                        <a:lnSpc>
                          <a:spcPct val="150000"/>
                        </a:lnSpc>
                        <a:buNone/>
                      </a:pP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S. Pang, Y. Yao, Z. Jiang, Z. Fan, H. Li, and B. Liu, “PYPILINE: Malicious PyPI Package Detection via Suspicious API Knowledge and Agent Workflow,” </a:t>
                      </a:r>
                      <a:r>
                        <a:rPr lang="en-IN" sz="1400" i="1">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arXiv.org</a:t>
                      </a: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2026. </a:t>
                      </a:r>
                      <a:r>
                        <a:rPr lang="en-IN" sz="1400" u="sng">
                          <a:solidFill>
                            <a:srgbClr val="000000"/>
                          </a:solidFill>
                          <a:effectLst/>
                          <a:latin typeface="Arial" panose="020B0604020202020204" pitchFamily="34" charset="0"/>
                          <a:ea typeface="DengXian" panose="02010600030101010101" pitchFamily="2" charset="-122"/>
                          <a:cs typeface="Times New Roman" panose="02020603050405020304" pitchFamily="18" charset="0"/>
                          <a:hlinkClick r:id="rId6"/>
                        </a:rPr>
                        <a:t>https://arxiv.org/abs/2606.19063</a:t>
                      </a:r>
                      <a:r>
                        <a:rPr lang="en-US"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a:t>
                      </a: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(accessed July 08, 2026).</a:t>
                      </a:r>
                    </a:p>
                  </a:txBody>
                  <a:tcPr marL="0" marR="0" marT="0" marB="0">
                    <a:lnL>
                      <a:noFill/>
                    </a:lnL>
                    <a:lnR>
                      <a:noFill/>
                    </a:lnR>
                    <a:lnT>
                      <a:noFill/>
                    </a:lnT>
                    <a:lnB>
                      <a:noFill/>
                    </a:lnB>
                    <a:noFill/>
                  </a:tcPr>
                </a:tc>
                <a:extLst>
                  <a:ext uri="{0D108BD9-81ED-4DB2-BD59-A6C34878D82A}">
                    <a16:rowId xmlns:a16="http://schemas.microsoft.com/office/drawing/2014/main" val="4242616902"/>
                  </a:ext>
                </a:extLst>
              </a:tr>
              <a:tr h="0">
                <a:tc>
                  <a:txBody>
                    <a:bodyPr/>
                    <a:lstStyle/>
                    <a:p>
                      <a:pPr algn="just">
                        <a:lnSpc>
                          <a:spcPct val="150000"/>
                        </a:lnSpc>
                        <a:buNone/>
                      </a:pP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[6]</a:t>
                      </a:r>
                    </a:p>
                  </a:txBody>
                  <a:tcPr marL="0" marR="0" marT="0" marB="0">
                    <a:lnL>
                      <a:noFill/>
                    </a:lnL>
                    <a:lnR>
                      <a:noFill/>
                    </a:lnR>
                    <a:lnT>
                      <a:noFill/>
                    </a:lnT>
                    <a:lnB>
                      <a:noFill/>
                    </a:lnB>
                    <a:noFill/>
                  </a:tcPr>
                </a:tc>
                <a:tc>
                  <a:txBody>
                    <a:bodyPr/>
                    <a:lstStyle/>
                    <a:p>
                      <a:pPr algn="just">
                        <a:lnSpc>
                          <a:spcPct val="150000"/>
                        </a:lnSpc>
                        <a:buNone/>
                      </a:pP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H. Samaana, D. E. Costa, E. Shihab, and A. Abdellatif, “A Machine Learning-Based Approach For Detecting Malicious PyPI Packages,” </a:t>
                      </a:r>
                      <a:r>
                        <a:rPr lang="en-IN" sz="1400" i="1">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Proceedings of the 40th ACM/SIGAPP Symposium on Applied Computing</a:t>
                      </a: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pp. 1617–1626, Mar. 2025, doi: </a:t>
                      </a:r>
                      <a:r>
                        <a:rPr lang="en-IN" sz="1400" u="sng">
                          <a:solidFill>
                            <a:srgbClr val="000000"/>
                          </a:solidFill>
                          <a:effectLst/>
                          <a:latin typeface="Arial" panose="020B0604020202020204" pitchFamily="34" charset="0"/>
                          <a:ea typeface="DengXian" panose="02010600030101010101" pitchFamily="2" charset="-122"/>
                          <a:cs typeface="Times New Roman" panose="02020603050405020304" pitchFamily="18" charset="0"/>
                          <a:hlinkClick r:id="rId7"/>
                        </a:rPr>
                        <a:t>https://doi.org/10.1145/3672608.3707756</a:t>
                      </a: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a:t>
                      </a:r>
                    </a:p>
                  </a:txBody>
                  <a:tcPr marL="0" marR="0" marT="0" marB="0">
                    <a:lnL>
                      <a:noFill/>
                    </a:lnL>
                    <a:lnR>
                      <a:noFill/>
                    </a:lnR>
                    <a:lnT>
                      <a:noFill/>
                    </a:lnT>
                    <a:lnB>
                      <a:noFill/>
                    </a:lnB>
                    <a:noFill/>
                  </a:tcPr>
                </a:tc>
                <a:extLst>
                  <a:ext uri="{0D108BD9-81ED-4DB2-BD59-A6C34878D82A}">
                    <a16:rowId xmlns:a16="http://schemas.microsoft.com/office/drawing/2014/main" val="515483612"/>
                  </a:ext>
                </a:extLst>
              </a:tr>
              <a:tr h="0">
                <a:tc>
                  <a:txBody>
                    <a:bodyPr/>
                    <a:lstStyle/>
                    <a:p>
                      <a:pPr algn="just">
                        <a:lnSpc>
                          <a:spcPct val="150000"/>
                        </a:lnSpc>
                        <a:buNone/>
                      </a:pPr>
                      <a:r>
                        <a:rPr lang="en-IN" sz="140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[7]</a:t>
                      </a:r>
                    </a:p>
                  </a:txBody>
                  <a:tcPr marL="0" marR="0" marT="0" marB="0">
                    <a:lnL>
                      <a:noFill/>
                    </a:lnL>
                    <a:lnR>
                      <a:noFill/>
                    </a:lnR>
                    <a:lnT>
                      <a:noFill/>
                    </a:lnT>
                    <a:lnB>
                      <a:noFill/>
                    </a:lnB>
                    <a:noFill/>
                  </a:tcPr>
                </a:tc>
                <a:tc>
                  <a:txBody>
                    <a:bodyPr/>
                    <a:lstStyle/>
                    <a:p>
                      <a:pPr algn="just">
                        <a:lnSpc>
                          <a:spcPct val="150000"/>
                        </a:lnSpc>
                        <a:buNone/>
                      </a:pPr>
                      <a:r>
                        <a:rPr lang="en-IN" sz="14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S. Halder </a:t>
                      </a:r>
                      <a:r>
                        <a:rPr lang="en-IN" sz="1400" i="1"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et al.</a:t>
                      </a:r>
                      <a:r>
                        <a:rPr lang="en-IN" sz="14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“Malicious Package Detection using Metadata Information,” </a:t>
                      </a:r>
                      <a:r>
                        <a:rPr lang="en-IN" sz="1400" i="1"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Proceedings of the ACM Web Conference 2022</a:t>
                      </a:r>
                      <a:r>
                        <a:rPr lang="en-IN" sz="14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pp. 1779–1789, May 2024, </a:t>
                      </a:r>
                      <a:r>
                        <a:rPr lang="en-IN" sz="1400" dirty="0" err="1">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doi</a:t>
                      </a:r>
                      <a:r>
                        <a:rPr lang="en-IN" sz="14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a:t>
                      </a:r>
                      <a:r>
                        <a:rPr lang="en-IN" sz="1400" u="sng"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hlinkClick r:id="rId8"/>
                        </a:rPr>
                        <a:t>https://doi.org/10.1145/3589334.3645543</a:t>
                      </a:r>
                      <a:r>
                        <a:rPr lang="en-IN" sz="14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a:t>
                      </a:r>
                    </a:p>
                    <a:p>
                      <a:pPr algn="just">
                        <a:lnSpc>
                          <a:spcPct val="150000"/>
                        </a:lnSpc>
                        <a:buNone/>
                      </a:pPr>
                      <a:r>
                        <a:rPr lang="en-IN" sz="1400" dirty="0">
                          <a:solidFill>
                            <a:srgbClr val="000000"/>
                          </a:solidFill>
                          <a:effectLst/>
                          <a:latin typeface="Arial" panose="020B0604020202020204" pitchFamily="34" charset="0"/>
                          <a:ea typeface="DengXian" panose="02010600030101010101" pitchFamily="2" charset="-122"/>
                          <a:cs typeface="Times New Roman" panose="02020603050405020304" pitchFamily="18" charset="0"/>
                        </a:rPr>
                        <a:t> </a:t>
                      </a:r>
                    </a:p>
                  </a:txBody>
                  <a:tcPr marL="0" marR="0" marT="0" marB="0">
                    <a:lnL>
                      <a:noFill/>
                    </a:lnL>
                    <a:lnR>
                      <a:noFill/>
                    </a:lnR>
                    <a:lnT>
                      <a:noFill/>
                    </a:lnT>
                    <a:lnB>
                      <a:noFill/>
                    </a:lnB>
                    <a:noFill/>
                  </a:tcPr>
                </a:tc>
                <a:extLst>
                  <a:ext uri="{0D108BD9-81ED-4DB2-BD59-A6C34878D82A}">
                    <a16:rowId xmlns:a16="http://schemas.microsoft.com/office/drawing/2014/main" val="695923473"/>
                  </a:ext>
                </a:extLst>
              </a:tr>
            </a:tbl>
          </a:graphicData>
        </a:graphic>
      </p:graphicFrame>
    </p:spTree>
    <p:extLst>
      <p:ext uri="{BB962C8B-B14F-4D97-AF65-F5344CB8AC3E}">
        <p14:creationId xmlns:p14="http://schemas.microsoft.com/office/powerpoint/2010/main" val="32195849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142</TotalTime>
  <Words>2420</Words>
  <Application>Microsoft Office PowerPoint</Application>
  <PresentationFormat>Widescreen</PresentationFormat>
  <Paragraphs>224</Paragraphs>
  <Slides>15</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Courier New</vt:lpstr>
      <vt:lpstr>Office Theme</vt:lpstr>
      <vt:lpstr>PowerPoint Presentation</vt:lpstr>
      <vt:lpstr>Project Context</vt:lpstr>
      <vt:lpstr>Problem Statement</vt:lpstr>
      <vt:lpstr>Aim and Objectives</vt:lpstr>
      <vt:lpstr>Literature Review</vt:lpstr>
      <vt:lpstr>Research Methodology</vt:lpstr>
      <vt:lpstr>Proposed System Architecture</vt:lpstr>
      <vt:lpstr>Machine Learning Models</vt:lpstr>
      <vt:lpstr>Dataset &amp; Feature Engineering</vt:lpstr>
      <vt:lpstr>Results</vt:lpstr>
      <vt:lpstr>Streamlit Dashboard</vt:lpstr>
      <vt:lpstr>Contributions</vt:lpstr>
      <vt:lpstr>Project Management</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karimbouzoubaa@yahoo.com</dc:creator>
  <cp:lastModifiedBy>Sushma Aadepu</cp:lastModifiedBy>
  <cp:revision>214</cp:revision>
  <dcterms:created xsi:type="dcterms:W3CDTF">2024-06-20T10:19:17Z</dcterms:created>
  <dcterms:modified xsi:type="dcterms:W3CDTF">2026-07-22T10:24:07Z</dcterms:modified>
</cp:coreProperties>
</file>